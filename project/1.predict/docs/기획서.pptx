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2"/>
  </p:notesMasterIdLst>
  <p:sldIdLst>
    <p:sldId id="256" r:id="rId2"/>
    <p:sldId id="261" r:id="rId3"/>
    <p:sldId id="277" r:id="rId4"/>
    <p:sldId id="270" r:id="rId5"/>
    <p:sldId id="259" r:id="rId6"/>
    <p:sldId id="281" r:id="rId7"/>
    <p:sldId id="282" r:id="rId8"/>
    <p:sldId id="283" r:id="rId9"/>
    <p:sldId id="284" r:id="rId10"/>
    <p:sldId id="28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제목" id="{07626288-CB30-4427-ADE0-ADF0697BF9D9}">
          <p14:sldIdLst>
            <p14:sldId id="256"/>
          </p14:sldIdLst>
        </p14:section>
        <p14:section name="기획의도" id="{5776D462-103A-4A94-B329-79D7A809B440}">
          <p14:sldIdLst>
            <p14:sldId id="261"/>
            <p14:sldId id="277"/>
          </p14:sldIdLst>
        </p14:section>
        <p14:section name="개발목표" id="{68215A09-B176-47FD-B779-768E16B11801}">
          <p14:sldIdLst>
            <p14:sldId id="270"/>
          </p14:sldIdLst>
        </p14:section>
        <p14:section name="개발 스케줄" id="{3B2639DA-94DE-47E4-BC35-687CBCEDE099}">
          <p14:sldIdLst>
            <p14:sldId id="259"/>
          </p14:sldIdLst>
        </p14:section>
        <p14:section name="화면 설계서" id="{67D05B65-EF38-40F8-9836-6D0F19ABBA4E}">
          <p14:sldIdLst>
            <p14:sldId id="281"/>
            <p14:sldId id="282"/>
            <p14:sldId id="283"/>
            <p14:sldId id="284"/>
            <p14:sldId id="28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5143AD7-E749-5E1E-371D-A585C0C727CD}" name="User" initials="Own" userId="User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8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9A2857-52EE-4322-B040-F7AE6E3FFBF0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E3F50E-80B0-4F85-9BA7-8539A8FB3F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9232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FF700-8BFB-4C30-A2B6-F509E51DF773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A73EE-7A8F-4405-9A1B-C766D678D7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4726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FF700-8BFB-4C30-A2B6-F509E51DF773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A73EE-7A8F-4405-9A1B-C766D678D7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841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FF700-8BFB-4C30-A2B6-F509E51DF773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A73EE-7A8F-4405-9A1B-C766D678D7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013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FF700-8BFB-4C30-A2B6-F509E51DF773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A73EE-7A8F-4405-9A1B-C766D678D7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1474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FF700-8BFB-4C30-A2B6-F509E51DF773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A73EE-7A8F-4405-9A1B-C766D678D7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8499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FF700-8BFB-4C30-A2B6-F509E51DF773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A73EE-7A8F-4405-9A1B-C766D678D7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95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FF700-8BFB-4C30-A2B6-F509E51DF773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A73EE-7A8F-4405-9A1B-C766D678D7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0929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FF700-8BFB-4C30-A2B6-F509E51DF773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A73EE-7A8F-4405-9A1B-C766D678D7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2061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FF700-8BFB-4C30-A2B6-F509E51DF773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A73EE-7A8F-4405-9A1B-C766D678D7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7736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FF700-8BFB-4C30-A2B6-F509E51DF773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A73EE-7A8F-4405-9A1B-C766D678D7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6741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FF700-8BFB-4C30-A2B6-F509E51DF773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A73EE-7A8F-4405-9A1B-C766D678D7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7939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1FF700-8BFB-4C30-A2B6-F509E51DF773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CA73EE-7A8F-4405-9A1B-C766D678D7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5097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A1441BF8-BC31-A14F-06C9-DCC0D1B6E63B}"/>
              </a:ext>
            </a:extLst>
          </p:cNvPr>
          <p:cNvSpPr>
            <a:spLocks/>
          </p:cNvSpPr>
          <p:nvPr/>
        </p:nvSpPr>
        <p:spPr>
          <a:xfrm>
            <a:off x="3048000" y="-11750"/>
            <a:ext cx="6096000" cy="6869750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8F91D04-0044-5B44-D76A-127E2B5A9B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01239" y="1015340"/>
            <a:ext cx="5189517" cy="1725181"/>
          </a:xfrm>
        </p:spPr>
        <p:txBody>
          <a:bodyPr>
            <a:noAutofit/>
          </a:bodyPr>
          <a:lstStyle/>
          <a:p>
            <a:pPr algn="ctr" latinLnBrk="0">
              <a:lnSpc>
                <a:spcPct val="150000"/>
              </a:lnSpc>
            </a:pPr>
            <a:r>
              <a:rPr lang="ko-KR" altLang="en-US" sz="2400" b="1" i="0">
                <a:solidFill>
                  <a:schemeClr val="bg1"/>
                </a:solidFill>
                <a:effectLst/>
                <a:latin typeface="Noto Sans KR"/>
              </a:rPr>
              <a:t>영양소 섭취 기반 고콜레스테롤혈증 위험도 예측 및 자가 진단 서비스</a:t>
            </a:r>
            <a:endParaRPr lang="ko-KR" altLang="en-US" sz="2400" b="1" i="0" dirty="0">
              <a:solidFill>
                <a:schemeClr val="bg1"/>
              </a:solidFill>
              <a:effectLst/>
              <a:latin typeface="Noto Sans KR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DCA0800-7F4B-02AB-743F-7001CA25EE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70514" y="5492792"/>
            <a:ext cx="1050968" cy="1365208"/>
          </a:xfrm>
        </p:spPr>
        <p:txBody>
          <a:bodyPr>
            <a:normAutofit/>
          </a:bodyPr>
          <a:lstStyle/>
          <a:p>
            <a:r>
              <a:rPr lang="en-US" altLang="ko-KR" sz="1200">
                <a:solidFill>
                  <a:schemeClr val="bg1">
                    <a:lumMod val="85000"/>
                  </a:schemeClr>
                </a:solidFill>
              </a:rPr>
              <a:t>Presenter</a:t>
            </a:r>
          </a:p>
          <a:p>
            <a:r>
              <a:rPr lang="ko-KR" altLang="en-US" sz="1600" b="1">
                <a:solidFill>
                  <a:schemeClr val="bg1"/>
                </a:solidFill>
              </a:rPr>
              <a:t>이 승 찬</a:t>
            </a:r>
            <a:endParaRPr lang="en-US" altLang="ko-KR" sz="1600" b="1">
              <a:solidFill>
                <a:schemeClr val="bg1"/>
              </a:solidFill>
            </a:endParaRPr>
          </a:p>
          <a:p>
            <a:endParaRPr lang="en-US" altLang="ko-KR" sz="1200" b="1">
              <a:solidFill>
                <a:schemeClr val="bg1"/>
              </a:solidFill>
            </a:endParaRPr>
          </a:p>
          <a:p>
            <a:r>
              <a:rPr lang="en-US" altLang="ko-KR" sz="1200" b="1">
                <a:solidFill>
                  <a:schemeClr val="bg1">
                    <a:lumMod val="85000"/>
                  </a:schemeClr>
                </a:solidFill>
              </a:rPr>
              <a:t>2026.03.17</a:t>
            </a:r>
            <a:endParaRPr lang="ko-KR" altLang="en-US" sz="1200" b="1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1865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7C862FC6-D248-4F10-F70D-E5710D1B325A}"/>
              </a:ext>
            </a:extLst>
          </p:cNvPr>
          <p:cNvSpPr/>
          <p:nvPr/>
        </p:nvSpPr>
        <p:spPr>
          <a:xfrm>
            <a:off x="583240" y="1864518"/>
            <a:ext cx="4007641" cy="4414838"/>
          </a:xfrm>
          <a:prstGeom prst="rect">
            <a:avLst/>
          </a:prstGeom>
          <a:solidFill>
            <a:schemeClr val="bg2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3E0445D-6120-B7A6-8C93-5DFA859689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2267" y="2631000"/>
            <a:ext cx="3389582" cy="79800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ko-KR" altLang="en-US" sz="1400" b="0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Noto Sans KR"/>
              </a:rPr>
              <a:t>외식 및 가공식품 섭취 빈도 증가</a:t>
            </a:r>
            <a:r>
              <a:rPr lang="ko-KR" altLang="en-US" sz="1400" b="0" i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Noto Sans KR"/>
              </a:rPr>
              <a:t> </a:t>
            </a:r>
            <a:endParaRPr lang="en-US" altLang="ko-KR" sz="1400" b="0" i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Noto Sans KR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1600" b="1" i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Noto Sans KR"/>
              </a:rPr>
              <a:t>지방</a:t>
            </a:r>
            <a:r>
              <a:rPr lang="en-US" altLang="ko-KR" sz="1600" b="1" i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Noto Sans KR"/>
              </a:rPr>
              <a:t>, </a:t>
            </a:r>
            <a:r>
              <a:rPr lang="ko-KR" altLang="en-US" sz="1600" b="1" i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Noto Sans KR"/>
              </a:rPr>
              <a:t>나트륨</a:t>
            </a:r>
            <a:r>
              <a:rPr lang="en-US" altLang="ko-KR" sz="1600" b="1" i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Noto Sans KR"/>
              </a:rPr>
              <a:t>, </a:t>
            </a:r>
            <a:r>
              <a:rPr lang="ko-KR" altLang="en-US" sz="1600" b="1" i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Noto Sans KR"/>
              </a:rPr>
              <a:t>당류 과잉섭취 일상화</a:t>
            </a:r>
            <a:endParaRPr lang="ko-KR" altLang="en-US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6F9FC355-108D-229C-8C47-754079D811C4}"/>
              </a:ext>
            </a:extLst>
          </p:cNvPr>
          <p:cNvSpPr txBox="1">
            <a:spLocks/>
          </p:cNvSpPr>
          <p:nvPr/>
        </p:nvSpPr>
        <p:spPr>
          <a:xfrm>
            <a:off x="687460" y="4670106"/>
            <a:ext cx="3850221" cy="79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ko-KR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Noto Sans KR"/>
              </a:rPr>
              <a:t>잘못된 식습관으로 인한</a:t>
            </a:r>
            <a:endParaRPr lang="en-US" altLang="ko-KR" sz="1400">
              <a:solidFill>
                <a:schemeClr val="tx1">
                  <a:lumMod val="65000"/>
                  <a:lumOff val="35000"/>
                </a:schemeClr>
              </a:solidFill>
              <a:latin typeface="Noto Sans KR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ko-KR" altLang="en-US" sz="1600" b="1">
                <a:solidFill>
                  <a:schemeClr val="tx1">
                    <a:lumMod val="95000"/>
                    <a:lumOff val="5000"/>
                  </a:schemeClr>
                </a:solidFill>
                <a:latin typeface="Noto Sans KR"/>
              </a:rPr>
              <a:t>고콜레스테롤혈증 만성질환 유병률 증가</a:t>
            </a:r>
            <a:endParaRPr lang="ko-KR" altLang="en-US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BD01A12-581E-B7EB-1FA7-940AA8F5F3A2}"/>
              </a:ext>
            </a:extLst>
          </p:cNvPr>
          <p:cNvSpPr/>
          <p:nvPr/>
        </p:nvSpPr>
        <p:spPr>
          <a:xfrm>
            <a:off x="0" y="0"/>
            <a:ext cx="12192000" cy="1180396"/>
          </a:xfrm>
          <a:prstGeom prst="rect">
            <a:avLst/>
          </a:prstGeom>
          <a:solidFill>
            <a:schemeClr val="dk1">
              <a:alpha val="8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085BA4F-DA62-4ACF-71F5-86330591C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253" y="234292"/>
            <a:ext cx="2181805" cy="946104"/>
          </a:xfrm>
        </p:spPr>
        <p:txBody>
          <a:bodyPr>
            <a:normAutofit/>
          </a:bodyPr>
          <a:lstStyle/>
          <a:p>
            <a:r>
              <a:rPr lang="ko-KR" altLang="en-US" sz="3200" b="1" dirty="0">
                <a:solidFill>
                  <a:schemeClr val="bg1"/>
                </a:solidFill>
              </a:rPr>
              <a:t>기획의도</a:t>
            </a:r>
            <a:br>
              <a:rPr lang="en-US" altLang="ko-KR" sz="3200" b="1" dirty="0"/>
            </a:br>
            <a:r>
              <a:rPr lang="en-US" altLang="ko-KR" sz="1400" b="0" i="0" dirty="0">
                <a:solidFill>
                  <a:schemeClr val="bg1">
                    <a:lumMod val="75000"/>
                  </a:schemeClr>
                </a:solidFill>
                <a:effectLst/>
                <a:latin typeface="Noto Sans KR"/>
              </a:rPr>
              <a:t>Background &amp; Purpose</a:t>
            </a:r>
            <a:endParaRPr lang="ko-KR" altLang="en-US" sz="1400" b="1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1034" name="Picture 10">
            <a:extLst>
              <a:ext uri="{FF2B5EF4-FFF2-40B4-BE49-F238E27FC236}">
                <a16:creationId xmlns:a16="http://schemas.microsoft.com/office/drawing/2014/main" id="{9CA5E893-BE61-1B2C-5561-000A6EBB97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2389058" y="3873937"/>
            <a:ext cx="396000" cy="3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8ED8B41D-99E1-876D-2BFC-742037A8D708}"/>
              </a:ext>
            </a:extLst>
          </p:cNvPr>
          <p:cNvCxnSpPr>
            <a:cxnSpLocks/>
          </p:cNvCxnSpPr>
          <p:nvPr/>
        </p:nvCxnSpPr>
        <p:spPr>
          <a:xfrm>
            <a:off x="5224723" y="1915525"/>
            <a:ext cx="0" cy="427358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" name="그림 6" descr="텍스트, 폰트, 스크린샷, 라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5911AD8-7656-D881-A124-7493626DDB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4884" y="5468106"/>
            <a:ext cx="5968686" cy="1193737"/>
          </a:xfrm>
          <a:prstGeom prst="rect">
            <a:avLst/>
          </a:prstGeom>
        </p:spPr>
      </p:pic>
      <p:pic>
        <p:nvPicPr>
          <p:cNvPr id="9" name="그림 8" descr="텍스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591396A-9BEA-DDB6-E92C-B999E1AB0E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4884" y="3690022"/>
            <a:ext cx="5974567" cy="1752540"/>
          </a:xfrm>
          <a:prstGeom prst="rect">
            <a:avLst/>
          </a:prstGeom>
        </p:spPr>
      </p:pic>
      <p:pic>
        <p:nvPicPr>
          <p:cNvPr id="11" name="그림 10" descr="텍스트, 스크린샷, 폰트, 라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4A37FBE-1B79-0C8E-CCFC-8E9EDC22DC2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4884" y="2576966"/>
            <a:ext cx="5974566" cy="1193737"/>
          </a:xfrm>
          <a:prstGeom prst="rect">
            <a:avLst/>
          </a:prstGeom>
        </p:spPr>
      </p:pic>
      <p:pic>
        <p:nvPicPr>
          <p:cNvPr id="19" name="그림 18" descr="텍스트, 폰트, 스크린샷, 라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07E56B8-2817-C9FE-115E-B032A85950C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4885" y="1492335"/>
            <a:ext cx="5974565" cy="1084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285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0E100E88-53CB-58F7-589A-85345C67DA7C}"/>
              </a:ext>
            </a:extLst>
          </p:cNvPr>
          <p:cNvSpPr/>
          <p:nvPr/>
        </p:nvSpPr>
        <p:spPr>
          <a:xfrm>
            <a:off x="583240" y="1864518"/>
            <a:ext cx="4007641" cy="4414838"/>
          </a:xfrm>
          <a:prstGeom prst="rect">
            <a:avLst/>
          </a:prstGeom>
          <a:solidFill>
            <a:schemeClr val="bg2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3E0445D-6120-B7A6-8C93-5DFA859689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2269" y="2628647"/>
            <a:ext cx="3389582" cy="798000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ko-KR" altLang="en-US" sz="1400" b="0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Noto Sans KR"/>
              </a:rPr>
              <a:t>이상지질혈증 검사주기 </a:t>
            </a:r>
            <a:r>
              <a:rPr lang="en-US" altLang="ko-KR" sz="1400" b="0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Noto Sans KR"/>
              </a:rPr>
              <a:t>4</a:t>
            </a:r>
            <a:r>
              <a:rPr lang="ko-KR" altLang="en-US" sz="1400" b="0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Noto Sans KR"/>
              </a:rPr>
              <a:t>년</a:t>
            </a:r>
            <a:r>
              <a:rPr lang="en-US" altLang="ko-KR" sz="1400" b="0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Noto Sans KR"/>
              </a:rPr>
              <a:t>(2018</a:t>
            </a:r>
            <a:r>
              <a:rPr lang="ko-KR" altLang="en-US" sz="1400" b="0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Noto Sans KR"/>
              </a:rPr>
              <a:t>년 조정</a:t>
            </a:r>
            <a:r>
              <a:rPr lang="en-US" altLang="ko-KR" sz="1400" b="0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Noto Sans KR"/>
              </a:rPr>
              <a:t>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1600" b="1">
                <a:solidFill>
                  <a:schemeClr val="tx1">
                    <a:lumMod val="85000"/>
                    <a:lumOff val="15000"/>
                  </a:schemeClr>
                </a:solidFill>
              </a:rPr>
              <a:t>검사주기가 길어 조기 대처 어려움</a:t>
            </a:r>
            <a:endParaRPr lang="ko-KR" altLang="en-US" sz="16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6F9FC355-108D-229C-8C47-754079D811C4}"/>
              </a:ext>
            </a:extLst>
          </p:cNvPr>
          <p:cNvSpPr txBox="1">
            <a:spLocks/>
          </p:cNvSpPr>
          <p:nvPr/>
        </p:nvSpPr>
        <p:spPr>
          <a:xfrm>
            <a:off x="799240" y="4717227"/>
            <a:ext cx="3575640" cy="79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ko-KR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Noto Sans KR"/>
              </a:rPr>
              <a:t>정기 검진 사이 공백기에 스스로 위험도를 예측</a:t>
            </a:r>
            <a:r>
              <a:rPr lang="en-US" altLang="ko-KR" sz="1400">
                <a:solidFill>
                  <a:schemeClr val="tx1">
                    <a:lumMod val="65000"/>
                    <a:lumOff val="35000"/>
                  </a:schemeClr>
                </a:solidFill>
                <a:latin typeface="Noto Sans KR"/>
              </a:rPr>
              <a:t>·</a:t>
            </a:r>
            <a:r>
              <a:rPr lang="ko-KR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Noto Sans KR"/>
              </a:rPr>
              <a:t>관리할 수 있는 </a:t>
            </a:r>
            <a:r>
              <a:rPr lang="ko-KR" altLang="en-US" sz="1600" b="1">
                <a:latin typeface="Noto Sans KR"/>
              </a:rPr>
              <a:t>자가 진단 도구 필요</a:t>
            </a:r>
            <a:endParaRPr lang="en-US" altLang="ko-KR" sz="1600" b="1">
              <a:latin typeface="Noto Sans KR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BD01A12-581E-B7EB-1FA7-940AA8F5F3A2}"/>
              </a:ext>
            </a:extLst>
          </p:cNvPr>
          <p:cNvSpPr/>
          <p:nvPr/>
        </p:nvSpPr>
        <p:spPr>
          <a:xfrm>
            <a:off x="0" y="0"/>
            <a:ext cx="12192000" cy="1180396"/>
          </a:xfrm>
          <a:prstGeom prst="rect">
            <a:avLst/>
          </a:prstGeom>
          <a:solidFill>
            <a:schemeClr val="dk1">
              <a:alpha val="8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085BA4F-DA62-4ACF-71F5-86330591C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252" y="234292"/>
            <a:ext cx="2217807" cy="946104"/>
          </a:xfrm>
        </p:spPr>
        <p:txBody>
          <a:bodyPr>
            <a:normAutofit/>
          </a:bodyPr>
          <a:lstStyle/>
          <a:p>
            <a:r>
              <a:rPr lang="ko-KR" altLang="en-US" sz="3200" b="1" dirty="0">
                <a:solidFill>
                  <a:schemeClr val="bg1"/>
                </a:solidFill>
              </a:rPr>
              <a:t>기획의도</a:t>
            </a:r>
            <a:br>
              <a:rPr lang="en-US" altLang="ko-KR" sz="3200" b="1" dirty="0"/>
            </a:br>
            <a:r>
              <a:rPr lang="en-US" altLang="ko-KR" sz="1400" b="0" i="0" dirty="0">
                <a:solidFill>
                  <a:schemeClr val="bg1">
                    <a:lumMod val="75000"/>
                  </a:schemeClr>
                </a:solidFill>
                <a:effectLst/>
                <a:latin typeface="Noto Sans KR"/>
              </a:rPr>
              <a:t>Background &amp; Purpose</a:t>
            </a:r>
            <a:endParaRPr lang="ko-KR" altLang="en-US" sz="1400" b="1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10" name="그림 9" descr="텍스트, 폰트, 스크린샷, 화이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698F1AE-2535-C086-85FF-13648D650D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010" y="4805543"/>
            <a:ext cx="5121554" cy="1392647"/>
          </a:xfrm>
          <a:prstGeom prst="rect">
            <a:avLst/>
          </a:prstGeom>
        </p:spPr>
      </p:pic>
      <p:pic>
        <p:nvPicPr>
          <p:cNvPr id="14" name="그림 13" descr="텍스트, 폰트, 스크린샷, 대수학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0E14F6A6-2746-F634-423E-B26B121875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010" y="3324310"/>
            <a:ext cx="5121553" cy="1481233"/>
          </a:xfrm>
          <a:prstGeom prst="rect">
            <a:avLst/>
          </a:prstGeom>
        </p:spPr>
      </p:pic>
      <p:pic>
        <p:nvPicPr>
          <p:cNvPr id="17" name="그림 16" descr="텍스트, 폰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4026F65-1B13-3798-E2A4-D0BEE936F0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011" y="1915525"/>
            <a:ext cx="5121553" cy="1407757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8D60B9FC-7435-EF43-5B54-C230574E2F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2343547" y="3837937"/>
            <a:ext cx="487026" cy="4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F3A5A2F4-C1FC-C543-BAF6-59AAAC1AE9C8}"/>
              </a:ext>
            </a:extLst>
          </p:cNvPr>
          <p:cNvCxnSpPr>
            <a:cxnSpLocks/>
          </p:cNvCxnSpPr>
          <p:nvPr/>
        </p:nvCxnSpPr>
        <p:spPr>
          <a:xfrm>
            <a:off x="5224723" y="1915525"/>
            <a:ext cx="0" cy="427358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13460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5F43BA5-0951-583E-766C-8FC261381A3D}"/>
              </a:ext>
            </a:extLst>
          </p:cNvPr>
          <p:cNvSpPr/>
          <p:nvPr/>
        </p:nvSpPr>
        <p:spPr>
          <a:xfrm>
            <a:off x="0" y="0"/>
            <a:ext cx="12192000" cy="1180396"/>
          </a:xfrm>
          <a:prstGeom prst="rect">
            <a:avLst/>
          </a:prstGeom>
          <a:solidFill>
            <a:schemeClr val="dk1">
              <a:alpha val="8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7C34BB3-C32B-9ADD-77C1-8351E456180D}"/>
              </a:ext>
            </a:extLst>
          </p:cNvPr>
          <p:cNvSpPr/>
          <p:nvPr/>
        </p:nvSpPr>
        <p:spPr>
          <a:xfrm>
            <a:off x="6436585" y="1815151"/>
            <a:ext cx="5441075" cy="44079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6DA42CF-0839-AB13-9F4C-B1358EA1A49D}"/>
              </a:ext>
            </a:extLst>
          </p:cNvPr>
          <p:cNvSpPr/>
          <p:nvPr/>
        </p:nvSpPr>
        <p:spPr>
          <a:xfrm>
            <a:off x="314329" y="1815152"/>
            <a:ext cx="5441087" cy="4407899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6F9FC355-108D-229C-8C47-754079D811C4}"/>
              </a:ext>
            </a:extLst>
          </p:cNvPr>
          <p:cNvSpPr txBox="1">
            <a:spLocks/>
          </p:cNvSpPr>
          <p:nvPr/>
        </p:nvSpPr>
        <p:spPr>
          <a:xfrm>
            <a:off x="6609585" y="2242726"/>
            <a:ext cx="5095073" cy="4648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ko-KR" altLang="en-US" sz="1800" b="1">
                <a:solidFill>
                  <a:schemeClr val="bg1"/>
                </a:solidFill>
                <a:latin typeface="Noto Sans KR"/>
              </a:rPr>
              <a:t>머신러닝 기반 콜레스테롤 위험도 예측 엔진 개발</a:t>
            </a:r>
            <a:endParaRPr lang="en-US" altLang="ko-KR" sz="1800" b="1">
              <a:solidFill>
                <a:schemeClr val="bg1"/>
              </a:solidFill>
              <a:latin typeface="Noto Sans KR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372C32-8F73-FAB9-E521-1E48EB1C7047}"/>
              </a:ext>
            </a:extLst>
          </p:cNvPr>
          <p:cNvSpPr txBox="1"/>
          <p:nvPr/>
        </p:nvSpPr>
        <p:spPr>
          <a:xfrm>
            <a:off x="6609585" y="3144078"/>
            <a:ext cx="4920745" cy="17473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400">
                <a:solidFill>
                  <a:schemeClr val="bg1">
                    <a:lumMod val="85000"/>
                  </a:schemeClr>
                </a:solidFill>
                <a:latin typeface="+mn-ea"/>
              </a:rPr>
              <a:t>통합 데이터 기반 </a:t>
            </a:r>
            <a:r>
              <a:rPr lang="ko-KR" altLang="en-US" sz="1400" b="1">
                <a:solidFill>
                  <a:schemeClr val="bg1"/>
                </a:solidFill>
                <a:latin typeface="+mn-ea"/>
              </a:rPr>
              <a:t>고콜레스테롤</a:t>
            </a:r>
            <a:r>
              <a:rPr lang="en-US" altLang="ko-KR" sz="1400" b="1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위험군 분류 및 주요 위험 요인 도출 지도학습 모델</a:t>
            </a:r>
            <a:r>
              <a:rPr lang="ko-KR" altLang="en-US" sz="1400">
                <a:solidFill>
                  <a:schemeClr val="bg1">
                    <a:lumMod val="85000"/>
                  </a:schemeClr>
                </a:solidFill>
                <a:latin typeface="+mn-ea"/>
              </a:rPr>
              <a:t> 개발</a:t>
            </a:r>
            <a:endParaRPr lang="en-US" altLang="ko-KR" sz="1400">
              <a:solidFill>
                <a:schemeClr val="bg1">
                  <a:lumMod val="85000"/>
                </a:schemeClr>
              </a:solidFill>
              <a:latin typeface="+mn-ea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400">
                <a:solidFill>
                  <a:schemeClr val="bg1">
                    <a:lumMod val="85000"/>
                  </a:schemeClr>
                </a:solidFill>
                <a:latin typeface="+mn-ea"/>
              </a:rPr>
              <a:t>개별 요인 위험 및 영향도 분석</a:t>
            </a:r>
            <a:r>
              <a:rPr lang="en-US" altLang="ko-KR" sz="1400">
                <a:solidFill>
                  <a:schemeClr val="bg1">
                    <a:lumMod val="85000"/>
                  </a:schemeClr>
                </a:solidFill>
                <a:latin typeface="+mn-ea"/>
              </a:rPr>
              <a:t>, </a:t>
            </a:r>
            <a:r>
              <a:rPr lang="ko-KR" altLang="en-US" sz="1400">
                <a:solidFill>
                  <a:schemeClr val="bg1">
                    <a:lumMod val="85000"/>
                  </a:schemeClr>
                </a:solidFill>
                <a:latin typeface="+mn-ea"/>
              </a:rPr>
              <a:t>정량적 데이터에서 </a:t>
            </a:r>
            <a:r>
              <a:rPr lang="ko-KR" altLang="en-US" sz="1400" b="1">
                <a:solidFill>
                  <a:schemeClr val="bg1"/>
                </a:solidFill>
                <a:latin typeface="+mn-ea"/>
              </a:rPr>
              <a:t>고콜레스테롤 위험 요인과 영향도 분석</a:t>
            </a:r>
            <a:endParaRPr lang="en-US" altLang="ko-KR" sz="14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408675D1-E235-486E-65AD-299E40A1A0DE}"/>
              </a:ext>
            </a:extLst>
          </p:cNvPr>
          <p:cNvSpPr txBox="1">
            <a:spLocks/>
          </p:cNvSpPr>
          <p:nvPr/>
        </p:nvSpPr>
        <p:spPr>
          <a:xfrm>
            <a:off x="603252" y="232090"/>
            <a:ext cx="2427331" cy="9461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b="1" dirty="0">
                <a:solidFill>
                  <a:schemeClr val="bg1"/>
                </a:solidFill>
              </a:rPr>
              <a:t>개발목표</a:t>
            </a:r>
            <a:br>
              <a:rPr lang="en-US" altLang="ko-KR" sz="3200" b="1" dirty="0"/>
            </a:br>
            <a:r>
              <a:rPr lang="en-US" altLang="ko-KR" sz="1400" b="0" i="0" dirty="0">
                <a:solidFill>
                  <a:schemeClr val="bg1">
                    <a:lumMod val="75000"/>
                  </a:schemeClr>
                </a:solidFill>
                <a:effectLst/>
                <a:latin typeface="Noto Sans KR"/>
              </a:rPr>
              <a:t>Development Objectives</a:t>
            </a:r>
            <a:endParaRPr lang="ko-KR" altLang="en-US" sz="1400" b="1" dirty="0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517963F5-4548-6EE0-0AF0-5D28ADF07127}"/>
              </a:ext>
            </a:extLst>
          </p:cNvPr>
          <p:cNvCxnSpPr>
            <a:cxnSpLocks/>
          </p:cNvCxnSpPr>
          <p:nvPr/>
        </p:nvCxnSpPr>
        <p:spPr>
          <a:xfrm>
            <a:off x="6096000" y="1908000"/>
            <a:ext cx="0" cy="4214194"/>
          </a:xfrm>
          <a:prstGeom prst="line">
            <a:avLst/>
          </a:prstGeom>
          <a:ln>
            <a:solidFill>
              <a:schemeClr val="dk1">
                <a:alpha val="8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7E11CF9-6752-0478-C4EE-7AFF12AF853A}"/>
              </a:ext>
            </a:extLst>
          </p:cNvPr>
          <p:cNvSpPr txBox="1"/>
          <p:nvPr/>
        </p:nvSpPr>
        <p:spPr>
          <a:xfrm>
            <a:off x="603252" y="3144078"/>
            <a:ext cx="4972211" cy="17473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400">
                <a:solidFill>
                  <a:schemeClr val="bg1">
                    <a:lumMod val="85000"/>
                  </a:schemeClr>
                </a:solidFill>
                <a:latin typeface="+mn-ea"/>
              </a:rPr>
              <a:t>식품섭취조사 데이터 활용</a:t>
            </a:r>
            <a:r>
              <a:rPr lang="en-US" altLang="ko-KR" sz="1400">
                <a:solidFill>
                  <a:schemeClr val="bg1">
                    <a:lumMod val="85000"/>
                  </a:schemeClr>
                </a:solidFill>
                <a:latin typeface="+mn-ea"/>
              </a:rPr>
              <a:t>, </a:t>
            </a:r>
            <a:r>
              <a:rPr lang="ko-KR" altLang="en-US" sz="1400">
                <a:solidFill>
                  <a:schemeClr val="bg1">
                    <a:lumMod val="85000"/>
                  </a:schemeClr>
                </a:solidFill>
                <a:latin typeface="+mn-ea"/>
              </a:rPr>
              <a:t>연령</a:t>
            </a:r>
            <a:r>
              <a:rPr lang="en-US" altLang="ko-KR" sz="1400">
                <a:solidFill>
                  <a:schemeClr val="bg1">
                    <a:lumMod val="85000"/>
                  </a:schemeClr>
                </a:solidFill>
                <a:latin typeface="+mn-ea"/>
              </a:rPr>
              <a:t>/</a:t>
            </a:r>
            <a:r>
              <a:rPr lang="ko-KR" altLang="en-US" sz="1400">
                <a:solidFill>
                  <a:schemeClr val="bg1">
                    <a:lumMod val="85000"/>
                  </a:schemeClr>
                </a:solidFill>
                <a:latin typeface="+mn-ea"/>
              </a:rPr>
              <a:t>성별 표준 섭취 비율 및 섭취 균형도를 수치화한 </a:t>
            </a: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영양 패턴 지표</a:t>
            </a:r>
            <a:r>
              <a:rPr lang="en-US" altLang="ko-KR" sz="1400" b="1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1400">
                <a:solidFill>
                  <a:schemeClr val="bg1">
                    <a:lumMod val="85000"/>
                  </a:schemeClr>
                </a:solidFill>
                <a:latin typeface="+mn-ea"/>
              </a:rPr>
              <a:t>생성</a:t>
            </a:r>
            <a:endParaRPr lang="en-US" altLang="ko-KR" sz="1400">
              <a:solidFill>
                <a:schemeClr val="bg1">
                  <a:lumMod val="85000"/>
                </a:schemeClr>
              </a:solidFill>
              <a:latin typeface="+mn-ea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400">
                <a:solidFill>
                  <a:schemeClr val="bg1">
                    <a:lumMod val="85000"/>
                  </a:schemeClr>
                </a:solidFill>
                <a:latin typeface="+mn-ea"/>
              </a:rPr>
              <a:t>사회경제적 요소</a:t>
            </a:r>
            <a:r>
              <a:rPr lang="en-US" altLang="ko-KR" sz="1400">
                <a:solidFill>
                  <a:schemeClr val="bg1">
                    <a:lumMod val="85000"/>
                  </a:schemeClr>
                </a:solidFill>
                <a:latin typeface="+mn-ea"/>
              </a:rPr>
              <a:t>(</a:t>
            </a:r>
            <a:r>
              <a:rPr lang="ko-KR" altLang="en-US" sz="1400">
                <a:solidFill>
                  <a:schemeClr val="bg1">
                    <a:lumMod val="85000"/>
                  </a:schemeClr>
                </a:solidFill>
                <a:latin typeface="+mn-ea"/>
              </a:rPr>
              <a:t>소득</a:t>
            </a:r>
            <a:r>
              <a:rPr lang="en-US" altLang="ko-KR" sz="1400">
                <a:solidFill>
                  <a:schemeClr val="bg1">
                    <a:lumMod val="85000"/>
                  </a:schemeClr>
                </a:solidFill>
                <a:latin typeface="+mn-ea"/>
              </a:rPr>
              <a:t>·</a:t>
            </a:r>
            <a:r>
              <a:rPr lang="ko-KR" altLang="en-US" sz="1400">
                <a:solidFill>
                  <a:schemeClr val="bg1">
                    <a:lumMod val="85000"/>
                  </a:schemeClr>
                </a:solidFill>
                <a:latin typeface="+mn-ea"/>
              </a:rPr>
              <a:t>교육 등</a:t>
            </a:r>
            <a:r>
              <a:rPr lang="en-US" altLang="ko-KR" sz="1400">
                <a:solidFill>
                  <a:schemeClr val="bg1">
                    <a:lumMod val="85000"/>
                  </a:schemeClr>
                </a:solidFill>
                <a:latin typeface="+mn-ea"/>
              </a:rPr>
              <a:t>), </a:t>
            </a:r>
            <a:r>
              <a:rPr lang="ko-KR" altLang="en-US" sz="1400">
                <a:solidFill>
                  <a:schemeClr val="bg1">
                    <a:lumMod val="85000"/>
                  </a:schemeClr>
                </a:solidFill>
                <a:latin typeface="+mn-ea"/>
              </a:rPr>
              <a:t>생활습관</a:t>
            </a:r>
            <a:r>
              <a:rPr lang="en-US" altLang="ko-KR" sz="1400">
                <a:solidFill>
                  <a:schemeClr val="bg1">
                    <a:lumMod val="85000"/>
                  </a:schemeClr>
                </a:solidFill>
                <a:latin typeface="+mn-ea"/>
              </a:rPr>
              <a:t>(</a:t>
            </a:r>
            <a:r>
              <a:rPr lang="ko-KR" altLang="en-US" sz="1400">
                <a:solidFill>
                  <a:schemeClr val="bg1">
                    <a:lumMod val="85000"/>
                  </a:schemeClr>
                </a:solidFill>
                <a:latin typeface="+mn-ea"/>
              </a:rPr>
              <a:t>운동</a:t>
            </a:r>
            <a:r>
              <a:rPr lang="en-US" altLang="ko-KR" sz="1400">
                <a:solidFill>
                  <a:schemeClr val="bg1">
                    <a:lumMod val="85000"/>
                  </a:schemeClr>
                </a:solidFill>
                <a:latin typeface="+mn-ea"/>
              </a:rPr>
              <a:t>·</a:t>
            </a:r>
            <a:r>
              <a:rPr lang="ko-KR" altLang="en-US" sz="1400">
                <a:solidFill>
                  <a:schemeClr val="bg1">
                    <a:lumMod val="85000"/>
                  </a:schemeClr>
                </a:solidFill>
                <a:latin typeface="+mn-ea"/>
              </a:rPr>
              <a:t>흡연 등</a:t>
            </a:r>
            <a:r>
              <a:rPr lang="en-US" altLang="ko-KR" sz="1400">
                <a:solidFill>
                  <a:schemeClr val="bg1">
                    <a:lumMod val="85000"/>
                  </a:schemeClr>
                </a:solidFill>
                <a:latin typeface="+mn-ea"/>
              </a:rPr>
              <a:t>)</a:t>
            </a:r>
            <a:r>
              <a:rPr lang="ko-KR" altLang="en-US" sz="1400">
                <a:solidFill>
                  <a:schemeClr val="bg1">
                    <a:lumMod val="85000"/>
                  </a:schemeClr>
                </a:solidFill>
                <a:latin typeface="+mn-ea"/>
              </a:rPr>
              <a:t>을 결합하여 분석 데이터의 </a:t>
            </a: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상관관계</a:t>
            </a:r>
            <a:r>
              <a:rPr lang="ko-KR" altLang="en-US" sz="1400" b="1">
                <a:solidFill>
                  <a:schemeClr val="bg1">
                    <a:lumMod val="85000"/>
                  </a:schemeClr>
                </a:solidFill>
                <a:latin typeface="+mn-ea"/>
              </a:rPr>
              <a:t> </a:t>
            </a:r>
            <a:r>
              <a:rPr lang="ko-KR" altLang="en-US" sz="1400">
                <a:solidFill>
                  <a:schemeClr val="bg1">
                    <a:lumMod val="85000"/>
                  </a:schemeClr>
                </a:solidFill>
                <a:latin typeface="+mn-ea"/>
              </a:rPr>
              <a:t>분석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79F87A-CFA9-9020-A18E-9860BACEC567}"/>
              </a:ext>
            </a:extLst>
          </p:cNvPr>
          <p:cNvSpPr txBox="1"/>
          <p:nvPr/>
        </p:nvSpPr>
        <p:spPr>
          <a:xfrm>
            <a:off x="1086661" y="2242726"/>
            <a:ext cx="3887843" cy="464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>
                <a:solidFill>
                  <a:schemeClr val="bg1"/>
                </a:solidFill>
                <a:latin typeface="Noto Sans KR"/>
              </a:rPr>
              <a:t>다차원 복합 요인 기반 데이터셋 구축</a:t>
            </a:r>
            <a:endParaRPr lang="ko-KR" alt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0005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EFBB337-B530-64AE-493F-26C1184D6BC6}"/>
              </a:ext>
            </a:extLst>
          </p:cNvPr>
          <p:cNvSpPr/>
          <p:nvPr/>
        </p:nvSpPr>
        <p:spPr>
          <a:xfrm>
            <a:off x="0" y="0"/>
            <a:ext cx="12192000" cy="1180396"/>
          </a:xfrm>
          <a:prstGeom prst="rect">
            <a:avLst/>
          </a:prstGeom>
          <a:solidFill>
            <a:schemeClr val="dk1">
              <a:alpha val="8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E6B21E77-88D1-0F37-CAD7-BE7EC7FC1682}"/>
              </a:ext>
            </a:extLst>
          </p:cNvPr>
          <p:cNvSpPr txBox="1">
            <a:spLocks/>
          </p:cNvSpPr>
          <p:nvPr/>
        </p:nvSpPr>
        <p:spPr>
          <a:xfrm>
            <a:off x="603254" y="234000"/>
            <a:ext cx="2523124" cy="9461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b="1" dirty="0">
                <a:solidFill>
                  <a:schemeClr val="bg1"/>
                </a:solidFill>
              </a:rPr>
              <a:t>개발 스케줄</a:t>
            </a:r>
            <a:br>
              <a:rPr lang="en-US" altLang="ko-KR" sz="3200" b="1" dirty="0"/>
            </a:br>
            <a:r>
              <a:rPr lang="en-US" altLang="ko-KR" sz="1400" b="0" i="0" dirty="0">
                <a:solidFill>
                  <a:schemeClr val="bg1">
                    <a:lumMod val="75000"/>
                  </a:schemeClr>
                </a:solidFill>
                <a:effectLst/>
                <a:latin typeface="Noto Sans KR"/>
              </a:rPr>
              <a:t>Development Schedule</a:t>
            </a:r>
            <a:endParaRPr lang="ko-KR" altLang="en-US" sz="1400" b="1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4D579A6-50E3-3440-BFBB-E4446852BF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907" y="2210598"/>
            <a:ext cx="11384186" cy="3447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1039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08207204-0CDA-0EAB-2C4B-4292E24760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3515" y="1648722"/>
            <a:ext cx="8640001" cy="4759149"/>
          </a:xfrm>
          <a:prstGeom prst="rect">
            <a:avLst/>
          </a:prstGeom>
        </p:spPr>
      </p:pic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4817D6E-D20C-C517-A1A7-CE0B0E88C4D8}"/>
              </a:ext>
            </a:extLst>
          </p:cNvPr>
          <p:cNvGraphicFramePr>
            <a:graphicFrameLocks noGrp="1"/>
          </p:cNvGraphicFramePr>
          <p:nvPr/>
        </p:nvGraphicFramePr>
        <p:xfrm>
          <a:off x="363516" y="826547"/>
          <a:ext cx="8640000" cy="7156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350476112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781226076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21557778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629845088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366529467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217245399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411002750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42851335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Page Title</a:t>
                      </a:r>
                      <a:endParaRPr lang="ko-KR" altLang="en-US" sz="12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main</a:t>
                      </a: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Screen ID</a:t>
                      </a:r>
                      <a:endParaRPr lang="ko-KR" altLang="en-US" sz="12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UI-main</a:t>
                      </a: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Author</a:t>
                      </a:r>
                      <a:endParaRPr lang="ko-KR" altLang="en-US" sz="12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이승찬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Date</a:t>
                      </a:r>
                      <a:endParaRPr lang="ko-KR" altLang="en-US" sz="12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2026.04.09</a:t>
                      </a: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745574"/>
                  </a:ext>
                </a:extLst>
              </a:tr>
              <a:tr h="355655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Screen Path</a:t>
                      </a:r>
                      <a:endParaRPr lang="ko-KR" altLang="en-US" sz="12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main</a:t>
                      </a: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0231026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015AE86-E78D-2EC5-F218-E0ACF707DAD0}"/>
              </a:ext>
            </a:extLst>
          </p:cNvPr>
          <p:cNvGraphicFramePr>
            <a:graphicFrameLocks noGrp="1"/>
          </p:cNvGraphicFramePr>
          <p:nvPr/>
        </p:nvGraphicFramePr>
        <p:xfrm>
          <a:off x="9221188" y="826547"/>
          <a:ext cx="2607296" cy="37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618">
                  <a:extLst>
                    <a:ext uri="{9D8B030D-6E8A-4147-A177-3AD203B41FA5}">
                      <a16:colId xmlns:a16="http://schemas.microsoft.com/office/drawing/2014/main" val="3477001054"/>
                    </a:ext>
                  </a:extLst>
                </a:gridCol>
                <a:gridCol w="2282678">
                  <a:extLst>
                    <a:ext uri="{9D8B030D-6E8A-4147-A177-3AD203B41FA5}">
                      <a16:colId xmlns:a16="http://schemas.microsoft.com/office/drawing/2014/main" val="2165713866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6262352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1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/>
                        <a:t>로고</a:t>
                      </a:r>
                      <a:r>
                        <a:rPr lang="en-US" altLang="ko-KR" sz="1200"/>
                        <a:t>. </a:t>
                      </a:r>
                      <a:r>
                        <a:rPr lang="ko-KR" altLang="en-US" sz="1200"/>
                        <a:t>메인페이지 이동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1744345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2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/>
                        <a:t>미리 예측한 사용자의 </a:t>
                      </a:r>
                      <a:r>
                        <a:rPr lang="en-US" altLang="ko-KR" sz="1200"/>
                        <a:t>ID </a:t>
                      </a:r>
                      <a:r>
                        <a:rPr lang="ko-KR" altLang="en-US" sz="1200"/>
                        <a:t>입력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856255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3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/>
                        <a:t>2</a:t>
                      </a:r>
                      <a:r>
                        <a:rPr lang="ko-KR" altLang="en-US" sz="1200"/>
                        <a:t>번에서 입력한 </a:t>
                      </a:r>
                      <a:r>
                        <a:rPr lang="en-US" altLang="ko-KR" sz="1200"/>
                        <a:t>ID </a:t>
                      </a:r>
                      <a:r>
                        <a:rPr lang="ko-KR" altLang="en-US" sz="1200"/>
                        <a:t>조회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8604235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4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/>
                        <a:t>신규 사용자는 예측 데이터 입력 페이지로 이동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5969263"/>
                  </a:ext>
                </a:extLst>
              </a:tr>
              <a:tr h="36000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/>
                        <a:t>Check Point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643079"/>
                  </a:ext>
                </a:extLst>
              </a:tr>
              <a:tr h="61200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2</a:t>
                      </a:r>
                      <a:r>
                        <a:rPr lang="ko-KR" altLang="en-US" sz="1200"/>
                        <a:t>번 입력하고 </a:t>
                      </a:r>
                      <a:r>
                        <a:rPr lang="en-US" altLang="ko-KR" sz="1200"/>
                        <a:t>3</a:t>
                      </a:r>
                      <a:r>
                        <a:rPr lang="ko-KR" altLang="en-US" sz="1200"/>
                        <a:t>번 누르면 해당 </a:t>
                      </a:r>
                      <a:r>
                        <a:rPr lang="en-US" altLang="ko-KR" sz="1200"/>
                        <a:t>ID</a:t>
                      </a:r>
                      <a:r>
                        <a:rPr lang="ko-KR" altLang="en-US" sz="1200"/>
                        <a:t>의 사용자 데이터 결과 페이지로 이동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5486421"/>
                  </a:ext>
                </a:extLst>
              </a:tr>
            </a:tbl>
          </a:graphicData>
        </a:graphic>
      </p:graphicFrame>
      <p:sp>
        <p:nvSpPr>
          <p:cNvPr id="2" name="타원 1">
            <a:extLst>
              <a:ext uri="{FF2B5EF4-FFF2-40B4-BE49-F238E27FC236}">
                <a16:creationId xmlns:a16="http://schemas.microsoft.com/office/drawing/2014/main" id="{CFA4621C-5EB8-811B-072B-A85ED9144CF2}"/>
              </a:ext>
            </a:extLst>
          </p:cNvPr>
          <p:cNvSpPr>
            <a:spLocks noChangeAspect="1"/>
          </p:cNvSpPr>
          <p:nvPr/>
        </p:nvSpPr>
        <p:spPr>
          <a:xfrm>
            <a:off x="1905715" y="2013963"/>
            <a:ext cx="324000" cy="324000"/>
          </a:xfrm>
          <a:prstGeom prst="ellipse">
            <a:avLst/>
          </a:prstGeom>
          <a:solidFill>
            <a:srgbClr val="C00000">
              <a:alpha val="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>
                <a:latin typeface="+mn-ea"/>
              </a:rPr>
              <a:t>1</a:t>
            </a:r>
            <a:endParaRPr lang="ko-KR" altLang="en-US" sz="2000">
              <a:latin typeface="+mn-ea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9A3BB0EB-242E-A779-AFF3-0102738FDD5E}"/>
              </a:ext>
            </a:extLst>
          </p:cNvPr>
          <p:cNvSpPr>
            <a:spLocks noChangeAspect="1"/>
          </p:cNvSpPr>
          <p:nvPr/>
        </p:nvSpPr>
        <p:spPr>
          <a:xfrm>
            <a:off x="5891034" y="2015911"/>
            <a:ext cx="324000" cy="324000"/>
          </a:xfrm>
          <a:prstGeom prst="ellipse">
            <a:avLst/>
          </a:prstGeom>
          <a:solidFill>
            <a:srgbClr val="C00000">
              <a:alpha val="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>
                <a:latin typeface="+mn-ea"/>
              </a:rPr>
              <a:t>2</a:t>
            </a:r>
            <a:endParaRPr lang="ko-KR" altLang="en-US" sz="2000">
              <a:latin typeface="+mn-ea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F0C34912-9764-30A1-077E-DC0388AA7999}"/>
              </a:ext>
            </a:extLst>
          </p:cNvPr>
          <p:cNvSpPr>
            <a:spLocks noChangeAspect="1"/>
          </p:cNvSpPr>
          <p:nvPr/>
        </p:nvSpPr>
        <p:spPr>
          <a:xfrm>
            <a:off x="6685143" y="2020996"/>
            <a:ext cx="324000" cy="324000"/>
          </a:xfrm>
          <a:prstGeom prst="ellipse">
            <a:avLst/>
          </a:prstGeom>
          <a:solidFill>
            <a:srgbClr val="C00000">
              <a:alpha val="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>
                <a:latin typeface="+mn-ea"/>
              </a:rPr>
              <a:t>3</a:t>
            </a:r>
            <a:endParaRPr lang="ko-KR" altLang="en-US" sz="2000">
              <a:latin typeface="+mn-ea"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24645F31-AEAE-E037-7697-747173F0D5E0}"/>
              </a:ext>
            </a:extLst>
          </p:cNvPr>
          <p:cNvSpPr>
            <a:spLocks noChangeAspect="1"/>
          </p:cNvSpPr>
          <p:nvPr/>
        </p:nvSpPr>
        <p:spPr>
          <a:xfrm>
            <a:off x="7415297" y="2015911"/>
            <a:ext cx="324000" cy="324000"/>
          </a:xfrm>
          <a:prstGeom prst="ellipse">
            <a:avLst/>
          </a:prstGeom>
          <a:solidFill>
            <a:srgbClr val="C00000">
              <a:alpha val="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>
                <a:latin typeface="+mn-ea"/>
              </a:rPr>
              <a:t>4</a:t>
            </a:r>
            <a:endParaRPr lang="ko-KR" altLang="en-US" sz="20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934674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EE3BC58B-D548-E5EA-CF2D-4D872053AE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3516" y="1797133"/>
            <a:ext cx="8641587" cy="4760023"/>
          </a:xfrm>
          <a:prstGeom prst="rect">
            <a:avLst/>
          </a:prstGeom>
        </p:spPr>
      </p:pic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4817D6E-D20C-C517-A1A7-CE0B0E88C4D8}"/>
              </a:ext>
            </a:extLst>
          </p:cNvPr>
          <p:cNvGraphicFramePr>
            <a:graphicFrameLocks noGrp="1"/>
          </p:cNvGraphicFramePr>
          <p:nvPr/>
        </p:nvGraphicFramePr>
        <p:xfrm>
          <a:off x="363516" y="826547"/>
          <a:ext cx="8640000" cy="7156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350476112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781226076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21557778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629845088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366529467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217245399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411002750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42851335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Page Title</a:t>
                      </a:r>
                      <a:endParaRPr lang="ko-KR" altLang="en-US" sz="12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Predict</a:t>
                      </a: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Screen ID</a:t>
                      </a:r>
                      <a:endParaRPr lang="ko-KR" altLang="en-US" sz="12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UI-predict_1</a:t>
                      </a: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Author</a:t>
                      </a:r>
                      <a:endParaRPr lang="ko-KR" altLang="en-US" sz="12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이승찬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Date</a:t>
                      </a:r>
                      <a:endParaRPr lang="ko-KR" altLang="en-US" sz="12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2026.04.09</a:t>
                      </a: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745574"/>
                  </a:ext>
                </a:extLst>
              </a:tr>
              <a:tr h="355655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Screen Path</a:t>
                      </a:r>
                      <a:endParaRPr lang="ko-KR" altLang="en-US" sz="12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main - predict</a:t>
                      </a: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0231026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015AE86-E78D-2EC5-F218-E0ACF707DAD0}"/>
              </a:ext>
            </a:extLst>
          </p:cNvPr>
          <p:cNvGraphicFramePr>
            <a:graphicFrameLocks noGrp="1"/>
          </p:cNvGraphicFramePr>
          <p:nvPr/>
        </p:nvGraphicFramePr>
        <p:xfrm>
          <a:off x="9221188" y="826547"/>
          <a:ext cx="2607296" cy="337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618">
                  <a:extLst>
                    <a:ext uri="{9D8B030D-6E8A-4147-A177-3AD203B41FA5}">
                      <a16:colId xmlns:a16="http://schemas.microsoft.com/office/drawing/2014/main" val="3477001054"/>
                    </a:ext>
                  </a:extLst>
                </a:gridCol>
                <a:gridCol w="2282678">
                  <a:extLst>
                    <a:ext uri="{9D8B030D-6E8A-4147-A177-3AD203B41FA5}">
                      <a16:colId xmlns:a16="http://schemas.microsoft.com/office/drawing/2014/main" val="2165713866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6262352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1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/>
                        <a:t>성별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연령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가구소득분위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교육수준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신장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체중 입력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1744345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2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/>
                        <a:t>다음 정보 입력으로 넘어감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856255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3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/>
                        <a:t>입력 데이터가 없을 때 표시되는 화면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29993"/>
                  </a:ext>
                </a:extLst>
              </a:tr>
              <a:tr h="36000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/>
                        <a:t>Check Point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643079"/>
                  </a:ext>
                </a:extLst>
              </a:tr>
              <a:tr h="61200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/>
                        <a:t>위에 사용자 검색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예측하기는 메인 페이지의 기능과 동일</a:t>
                      </a:r>
                      <a:endParaRPr lang="en-US" altLang="ko-KR" sz="1200"/>
                    </a:p>
                    <a:p>
                      <a:pPr algn="ctr" latinLnBrk="1"/>
                      <a:r>
                        <a:rPr lang="en-US" altLang="ko-KR" sz="1200"/>
                        <a:t>BMI</a:t>
                      </a:r>
                      <a:r>
                        <a:rPr lang="ko-KR" altLang="en-US" sz="1200"/>
                        <a:t>수치는 입력받은 신장과 체중 값으로 자동 계산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5486421"/>
                  </a:ext>
                </a:extLst>
              </a:tr>
            </a:tbl>
          </a:graphicData>
        </a:graphic>
      </p:graphicFrame>
      <p:sp>
        <p:nvSpPr>
          <p:cNvPr id="2" name="타원 1">
            <a:extLst>
              <a:ext uri="{FF2B5EF4-FFF2-40B4-BE49-F238E27FC236}">
                <a16:creationId xmlns:a16="http://schemas.microsoft.com/office/drawing/2014/main" id="{CFA4621C-5EB8-811B-072B-A85ED9144CF2}"/>
              </a:ext>
            </a:extLst>
          </p:cNvPr>
          <p:cNvSpPr>
            <a:spLocks noChangeAspect="1"/>
          </p:cNvSpPr>
          <p:nvPr/>
        </p:nvSpPr>
        <p:spPr>
          <a:xfrm>
            <a:off x="3575791" y="4626799"/>
            <a:ext cx="324000" cy="324000"/>
          </a:xfrm>
          <a:prstGeom prst="ellipse">
            <a:avLst/>
          </a:prstGeom>
          <a:solidFill>
            <a:srgbClr val="C00000">
              <a:alpha val="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>
                <a:latin typeface="+mn-ea"/>
              </a:rPr>
              <a:t>2</a:t>
            </a:r>
            <a:endParaRPr lang="ko-KR" altLang="en-US" sz="2000">
              <a:latin typeface="+mn-ea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6927301E-47D9-D7C6-EBF6-3EEBDCE32BE6}"/>
              </a:ext>
            </a:extLst>
          </p:cNvPr>
          <p:cNvSpPr>
            <a:spLocks noChangeAspect="1"/>
          </p:cNvSpPr>
          <p:nvPr/>
        </p:nvSpPr>
        <p:spPr>
          <a:xfrm>
            <a:off x="825563" y="2727553"/>
            <a:ext cx="324000" cy="324000"/>
          </a:xfrm>
          <a:prstGeom prst="ellipse">
            <a:avLst/>
          </a:prstGeom>
          <a:solidFill>
            <a:srgbClr val="C00000">
              <a:alpha val="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>
                <a:latin typeface="+mn-ea"/>
              </a:rPr>
              <a:t>1</a:t>
            </a:r>
            <a:endParaRPr lang="ko-KR" altLang="en-US" sz="2000">
              <a:latin typeface="+mn-ea"/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A8207B3F-6E71-29FA-8D7B-37BA791680C0}"/>
              </a:ext>
            </a:extLst>
          </p:cNvPr>
          <p:cNvSpPr>
            <a:spLocks noChangeAspect="1"/>
          </p:cNvSpPr>
          <p:nvPr/>
        </p:nvSpPr>
        <p:spPr>
          <a:xfrm>
            <a:off x="4683516" y="2192027"/>
            <a:ext cx="324000" cy="324000"/>
          </a:xfrm>
          <a:prstGeom prst="ellipse">
            <a:avLst/>
          </a:prstGeom>
          <a:solidFill>
            <a:srgbClr val="C00000">
              <a:alpha val="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>
                <a:latin typeface="+mn-ea"/>
              </a:rPr>
              <a:t>3</a:t>
            </a:r>
            <a:endParaRPr lang="ko-KR" altLang="en-US" sz="20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18207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8CA43BA6-EF96-A900-FBF2-6F9942429E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3516" y="1924547"/>
            <a:ext cx="8639999" cy="3857020"/>
          </a:xfrm>
          <a:prstGeom prst="rect">
            <a:avLst/>
          </a:prstGeom>
        </p:spPr>
      </p:pic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4817D6E-D20C-C517-A1A7-CE0B0E88C4D8}"/>
              </a:ext>
            </a:extLst>
          </p:cNvPr>
          <p:cNvGraphicFramePr>
            <a:graphicFrameLocks noGrp="1"/>
          </p:cNvGraphicFramePr>
          <p:nvPr/>
        </p:nvGraphicFramePr>
        <p:xfrm>
          <a:off x="363516" y="826547"/>
          <a:ext cx="8640000" cy="7156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350476112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781226076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21557778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629845088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366529467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217245399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411002750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42851335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Page Title</a:t>
                      </a:r>
                      <a:endParaRPr lang="ko-KR" altLang="en-US" sz="12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Predict</a:t>
                      </a: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Screen ID</a:t>
                      </a:r>
                      <a:endParaRPr lang="ko-KR" altLang="en-US" sz="12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UI-predict_2</a:t>
                      </a: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Author</a:t>
                      </a:r>
                      <a:endParaRPr lang="ko-KR" altLang="en-US" sz="12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이승찬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Date</a:t>
                      </a:r>
                      <a:endParaRPr lang="ko-KR" altLang="en-US" sz="12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2026.04.09</a:t>
                      </a: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745574"/>
                  </a:ext>
                </a:extLst>
              </a:tr>
              <a:tr h="355655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Screen Path</a:t>
                      </a:r>
                      <a:endParaRPr lang="ko-KR" altLang="en-US" sz="12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main - predict</a:t>
                      </a: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0231026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015AE86-E78D-2EC5-F218-E0ACF707DAD0}"/>
              </a:ext>
            </a:extLst>
          </p:cNvPr>
          <p:cNvGraphicFramePr>
            <a:graphicFrameLocks noGrp="1"/>
          </p:cNvGraphicFramePr>
          <p:nvPr/>
        </p:nvGraphicFramePr>
        <p:xfrm>
          <a:off x="9221188" y="826547"/>
          <a:ext cx="2607296" cy="21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618">
                  <a:extLst>
                    <a:ext uri="{9D8B030D-6E8A-4147-A177-3AD203B41FA5}">
                      <a16:colId xmlns:a16="http://schemas.microsoft.com/office/drawing/2014/main" val="3477001054"/>
                    </a:ext>
                  </a:extLst>
                </a:gridCol>
                <a:gridCol w="2282678">
                  <a:extLst>
                    <a:ext uri="{9D8B030D-6E8A-4147-A177-3AD203B41FA5}">
                      <a16:colId xmlns:a16="http://schemas.microsoft.com/office/drawing/2014/main" val="2165713866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6262352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1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/>
                        <a:t>최근 </a:t>
                      </a:r>
                      <a:r>
                        <a:rPr lang="en-US" altLang="ko-KR" sz="1200"/>
                        <a:t>24</a:t>
                      </a:r>
                      <a:r>
                        <a:rPr lang="ko-KR" altLang="en-US" sz="1200"/>
                        <a:t>시간 섭취한 음식 영양소 수치 입력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1744345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2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/>
                        <a:t>이전 정보 입력으로 넘어감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856255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3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/>
                        <a:t>다음 정보 입력으로 넘어감</a:t>
                      </a:r>
                    </a:p>
                    <a:p>
                      <a:pPr algn="l" latinLnBrk="1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7494998"/>
                  </a:ext>
                </a:extLst>
              </a:tr>
            </a:tbl>
          </a:graphicData>
        </a:graphic>
      </p:graphicFrame>
      <p:sp>
        <p:nvSpPr>
          <p:cNvPr id="2" name="타원 1">
            <a:extLst>
              <a:ext uri="{FF2B5EF4-FFF2-40B4-BE49-F238E27FC236}">
                <a16:creationId xmlns:a16="http://schemas.microsoft.com/office/drawing/2014/main" id="{CFA4621C-5EB8-811B-072B-A85ED9144CF2}"/>
              </a:ext>
            </a:extLst>
          </p:cNvPr>
          <p:cNvSpPr>
            <a:spLocks noChangeAspect="1"/>
          </p:cNvSpPr>
          <p:nvPr/>
        </p:nvSpPr>
        <p:spPr>
          <a:xfrm>
            <a:off x="3730169" y="4580980"/>
            <a:ext cx="324000" cy="324000"/>
          </a:xfrm>
          <a:prstGeom prst="ellipse">
            <a:avLst/>
          </a:prstGeom>
          <a:solidFill>
            <a:srgbClr val="C00000">
              <a:alpha val="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>
                <a:latin typeface="+mn-ea"/>
              </a:rPr>
              <a:t>3</a:t>
            </a:r>
            <a:endParaRPr lang="ko-KR" altLang="en-US" sz="2000">
              <a:latin typeface="+mn-ea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6927301E-47D9-D7C6-EBF6-3EEBDCE32BE6}"/>
              </a:ext>
            </a:extLst>
          </p:cNvPr>
          <p:cNvSpPr>
            <a:spLocks noChangeAspect="1"/>
          </p:cNvSpPr>
          <p:nvPr/>
        </p:nvSpPr>
        <p:spPr>
          <a:xfrm>
            <a:off x="831415" y="2442545"/>
            <a:ext cx="324000" cy="324000"/>
          </a:xfrm>
          <a:prstGeom prst="ellipse">
            <a:avLst/>
          </a:prstGeom>
          <a:solidFill>
            <a:srgbClr val="C00000">
              <a:alpha val="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>
                <a:latin typeface="+mn-ea"/>
              </a:rPr>
              <a:t>1</a:t>
            </a:r>
            <a:endParaRPr lang="ko-KR" altLang="en-US" sz="2000">
              <a:latin typeface="+mn-ea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D4E14AD0-C0F5-B974-6574-7EBB78BAB894}"/>
              </a:ext>
            </a:extLst>
          </p:cNvPr>
          <p:cNvSpPr>
            <a:spLocks noChangeAspect="1"/>
          </p:cNvSpPr>
          <p:nvPr/>
        </p:nvSpPr>
        <p:spPr>
          <a:xfrm>
            <a:off x="831415" y="4580980"/>
            <a:ext cx="324000" cy="324000"/>
          </a:xfrm>
          <a:prstGeom prst="ellipse">
            <a:avLst/>
          </a:prstGeom>
          <a:solidFill>
            <a:srgbClr val="C00000">
              <a:alpha val="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>
                <a:latin typeface="+mn-ea"/>
              </a:rPr>
              <a:t>2</a:t>
            </a:r>
            <a:endParaRPr lang="ko-KR" altLang="en-US" sz="20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231961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38C42CA7-6E1F-9999-9906-824F65D2A3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3516" y="1924547"/>
            <a:ext cx="8640000" cy="3857021"/>
          </a:xfrm>
          <a:prstGeom prst="rect">
            <a:avLst/>
          </a:prstGeom>
        </p:spPr>
      </p:pic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4817D6E-D20C-C517-A1A7-CE0B0E88C4D8}"/>
              </a:ext>
            </a:extLst>
          </p:cNvPr>
          <p:cNvGraphicFramePr>
            <a:graphicFrameLocks noGrp="1"/>
          </p:cNvGraphicFramePr>
          <p:nvPr/>
        </p:nvGraphicFramePr>
        <p:xfrm>
          <a:off x="363516" y="826547"/>
          <a:ext cx="8640000" cy="7156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350476112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781226076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21557778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629845088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366529467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217245399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411002750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42851335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Page Title</a:t>
                      </a:r>
                      <a:endParaRPr lang="ko-KR" altLang="en-US" sz="12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Predict</a:t>
                      </a: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Screen ID</a:t>
                      </a:r>
                      <a:endParaRPr lang="ko-KR" altLang="en-US" sz="12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UI-predict_3</a:t>
                      </a: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Author</a:t>
                      </a:r>
                      <a:endParaRPr lang="ko-KR" altLang="en-US" sz="12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이승찬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Date</a:t>
                      </a:r>
                      <a:endParaRPr lang="ko-KR" altLang="en-US" sz="12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2026.04.09</a:t>
                      </a: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745574"/>
                  </a:ext>
                </a:extLst>
              </a:tr>
              <a:tr h="355655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Screen Path</a:t>
                      </a:r>
                      <a:endParaRPr lang="ko-KR" altLang="en-US" sz="12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main - predict</a:t>
                      </a: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0231026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015AE86-E78D-2EC5-F218-E0ACF707DAD0}"/>
              </a:ext>
            </a:extLst>
          </p:cNvPr>
          <p:cNvGraphicFramePr>
            <a:graphicFrameLocks noGrp="1"/>
          </p:cNvGraphicFramePr>
          <p:nvPr/>
        </p:nvGraphicFramePr>
        <p:xfrm>
          <a:off x="9221188" y="826547"/>
          <a:ext cx="2607296" cy="21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618">
                  <a:extLst>
                    <a:ext uri="{9D8B030D-6E8A-4147-A177-3AD203B41FA5}">
                      <a16:colId xmlns:a16="http://schemas.microsoft.com/office/drawing/2014/main" val="3477001054"/>
                    </a:ext>
                  </a:extLst>
                </a:gridCol>
                <a:gridCol w="2282678">
                  <a:extLst>
                    <a:ext uri="{9D8B030D-6E8A-4147-A177-3AD203B41FA5}">
                      <a16:colId xmlns:a16="http://schemas.microsoft.com/office/drawing/2014/main" val="2165713866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6262352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1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/>
                        <a:t>근력운동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유산소운동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수면시간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흡연여부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음주빈도 입력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1744345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2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/>
                        <a:t>이전 정보 입력으로 넘어감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856255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3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/>
                        <a:t>입력 데이터 기반 예측 결과 페이지로 이동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7494998"/>
                  </a:ext>
                </a:extLst>
              </a:tr>
            </a:tbl>
          </a:graphicData>
        </a:graphic>
      </p:graphicFrame>
      <p:sp>
        <p:nvSpPr>
          <p:cNvPr id="2" name="타원 1">
            <a:extLst>
              <a:ext uri="{FF2B5EF4-FFF2-40B4-BE49-F238E27FC236}">
                <a16:creationId xmlns:a16="http://schemas.microsoft.com/office/drawing/2014/main" id="{CFA4621C-5EB8-811B-072B-A85ED9144CF2}"/>
              </a:ext>
            </a:extLst>
          </p:cNvPr>
          <p:cNvSpPr>
            <a:spLocks noChangeAspect="1"/>
          </p:cNvSpPr>
          <p:nvPr/>
        </p:nvSpPr>
        <p:spPr>
          <a:xfrm>
            <a:off x="3521626" y="4509728"/>
            <a:ext cx="324000" cy="324000"/>
          </a:xfrm>
          <a:prstGeom prst="ellipse">
            <a:avLst/>
          </a:prstGeom>
          <a:solidFill>
            <a:srgbClr val="C00000">
              <a:alpha val="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>
                <a:latin typeface="+mn-ea"/>
              </a:rPr>
              <a:t>3</a:t>
            </a:r>
            <a:endParaRPr lang="ko-KR" altLang="en-US" sz="2000">
              <a:latin typeface="+mn-ea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6927301E-47D9-D7C6-EBF6-3EEBDCE32BE6}"/>
              </a:ext>
            </a:extLst>
          </p:cNvPr>
          <p:cNvSpPr>
            <a:spLocks noChangeAspect="1"/>
          </p:cNvSpPr>
          <p:nvPr/>
        </p:nvSpPr>
        <p:spPr>
          <a:xfrm>
            <a:off x="878916" y="2460213"/>
            <a:ext cx="324000" cy="324000"/>
          </a:xfrm>
          <a:prstGeom prst="ellipse">
            <a:avLst/>
          </a:prstGeom>
          <a:solidFill>
            <a:srgbClr val="C00000">
              <a:alpha val="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>
                <a:latin typeface="+mn-ea"/>
              </a:rPr>
              <a:t>1</a:t>
            </a:r>
            <a:endParaRPr lang="ko-KR" altLang="en-US" sz="2000">
              <a:latin typeface="+mn-ea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D4E14AD0-C0F5-B974-6574-7EBB78BAB894}"/>
              </a:ext>
            </a:extLst>
          </p:cNvPr>
          <p:cNvSpPr>
            <a:spLocks noChangeAspect="1"/>
          </p:cNvSpPr>
          <p:nvPr/>
        </p:nvSpPr>
        <p:spPr>
          <a:xfrm>
            <a:off x="878916" y="4509728"/>
            <a:ext cx="324000" cy="324000"/>
          </a:xfrm>
          <a:prstGeom prst="ellipse">
            <a:avLst/>
          </a:prstGeom>
          <a:solidFill>
            <a:srgbClr val="C00000">
              <a:alpha val="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>
                <a:latin typeface="+mn-ea"/>
              </a:rPr>
              <a:t>2</a:t>
            </a:r>
            <a:endParaRPr lang="ko-KR" altLang="en-US" sz="20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455359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D61A098B-3AEA-169C-0B6F-593FC1BCF6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3515" y="1669553"/>
            <a:ext cx="8639999" cy="4970213"/>
          </a:xfrm>
          <a:prstGeom prst="rect">
            <a:avLst/>
          </a:prstGeom>
        </p:spPr>
      </p:pic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4817D6E-D20C-C517-A1A7-CE0B0E88C4D8}"/>
              </a:ext>
            </a:extLst>
          </p:cNvPr>
          <p:cNvGraphicFramePr>
            <a:graphicFrameLocks noGrp="1"/>
          </p:cNvGraphicFramePr>
          <p:nvPr/>
        </p:nvGraphicFramePr>
        <p:xfrm>
          <a:off x="363516" y="826547"/>
          <a:ext cx="8640000" cy="7156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350476112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781226076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21557778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629845088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366529467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217245399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411002750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42851335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Page Title</a:t>
                      </a:r>
                      <a:endParaRPr lang="ko-KR" altLang="en-US" sz="12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Result</a:t>
                      </a: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Screen ID</a:t>
                      </a:r>
                      <a:endParaRPr lang="ko-KR" altLang="en-US" sz="12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UI-result</a:t>
                      </a: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Author</a:t>
                      </a:r>
                      <a:endParaRPr lang="ko-KR" altLang="en-US" sz="12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이승찬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Date</a:t>
                      </a:r>
                      <a:endParaRPr lang="ko-KR" altLang="en-US" sz="12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2026.04.09</a:t>
                      </a: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745574"/>
                  </a:ext>
                </a:extLst>
              </a:tr>
              <a:tr h="355655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Screen Path</a:t>
                      </a:r>
                      <a:endParaRPr lang="ko-KR" altLang="en-US" sz="12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main - predict</a:t>
                      </a: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0231026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015AE86-E78D-2EC5-F218-E0ACF707DAD0}"/>
              </a:ext>
            </a:extLst>
          </p:cNvPr>
          <p:cNvGraphicFramePr>
            <a:graphicFrameLocks noGrp="1"/>
          </p:cNvGraphicFramePr>
          <p:nvPr/>
        </p:nvGraphicFramePr>
        <p:xfrm>
          <a:off x="9221188" y="826547"/>
          <a:ext cx="2607296" cy="365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618">
                  <a:extLst>
                    <a:ext uri="{9D8B030D-6E8A-4147-A177-3AD203B41FA5}">
                      <a16:colId xmlns:a16="http://schemas.microsoft.com/office/drawing/2014/main" val="3477001054"/>
                    </a:ext>
                  </a:extLst>
                </a:gridCol>
                <a:gridCol w="2282678">
                  <a:extLst>
                    <a:ext uri="{9D8B030D-6E8A-4147-A177-3AD203B41FA5}">
                      <a16:colId xmlns:a16="http://schemas.microsoft.com/office/drawing/2014/main" val="2165713866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6262352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1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/>
                        <a:t>입력 데이터 수정</a:t>
                      </a:r>
                      <a:endParaRPr lang="en-US" altLang="ko-KR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1744345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2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/>
                        <a:t>사용자 데이터 저장 </a:t>
                      </a:r>
                      <a:r>
                        <a:rPr lang="en-US" altLang="ko-KR" sz="1200"/>
                        <a:t>ID</a:t>
                      </a:r>
                    </a:p>
                    <a:p>
                      <a:pPr algn="l" latinLnBrk="1"/>
                      <a:r>
                        <a:rPr lang="ko-KR" altLang="en-US" sz="1200"/>
                        <a:t>상단 </a:t>
                      </a:r>
                      <a:r>
                        <a:rPr lang="en-US" altLang="ko-KR" sz="1200"/>
                        <a:t>‘</a:t>
                      </a:r>
                      <a:r>
                        <a:rPr lang="ko-KR" altLang="en-US" sz="1200"/>
                        <a:t>사용자 검색</a:t>
                      </a:r>
                      <a:r>
                        <a:rPr lang="en-US" altLang="ko-KR" sz="1200"/>
                        <a:t>’</a:t>
                      </a:r>
                      <a:r>
                        <a:rPr lang="ko-KR" altLang="en-US" sz="1200"/>
                        <a:t>으로 저장된 데이터 조회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856255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3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/>
                        <a:t>입력 데이터 예측 결과 그래프</a:t>
                      </a:r>
                      <a:endParaRPr lang="en-US" altLang="ko-KR" sz="1200"/>
                    </a:p>
                    <a:p>
                      <a:pPr algn="l" latinLnBrk="1"/>
                      <a:r>
                        <a:rPr lang="en-US" altLang="ko-KR" sz="1200"/>
                        <a:t>class0 – </a:t>
                      </a:r>
                      <a:r>
                        <a:rPr lang="ko-KR" altLang="en-US" sz="1200"/>
                        <a:t>정상</a:t>
                      </a:r>
                      <a:r>
                        <a:rPr lang="en-US" altLang="ko-KR" sz="1200"/>
                        <a:t> </a:t>
                      </a:r>
                    </a:p>
                    <a:p>
                      <a:pPr algn="l" latinLnBrk="1"/>
                      <a:r>
                        <a:rPr lang="en-US" altLang="ko-KR" sz="1200"/>
                        <a:t>class1 – </a:t>
                      </a:r>
                      <a:r>
                        <a:rPr lang="ko-KR" altLang="en-US" sz="1200"/>
                        <a:t>경계</a:t>
                      </a:r>
                      <a:r>
                        <a:rPr lang="en-US" altLang="ko-KR" sz="1200"/>
                        <a:t> </a:t>
                      </a:r>
                    </a:p>
                    <a:p>
                      <a:pPr algn="l" latinLnBrk="1"/>
                      <a:r>
                        <a:rPr lang="en-US" altLang="ko-KR" sz="1200"/>
                        <a:t>class2 – </a:t>
                      </a:r>
                      <a:r>
                        <a:rPr lang="ko-KR" altLang="en-US" sz="1200"/>
                        <a:t>위험</a:t>
                      </a:r>
                      <a:endParaRPr lang="en-US" altLang="ko-KR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7494998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4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/>
                        <a:t>예측 영향도가 높은 순서대로 영양소 </a:t>
                      </a:r>
                      <a:r>
                        <a:rPr lang="en-US" altLang="ko-KR" sz="1200"/>
                        <a:t>5</a:t>
                      </a:r>
                      <a:r>
                        <a:rPr lang="ko-KR" altLang="en-US" sz="1200"/>
                        <a:t>개 표시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1244995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5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/>
                        <a:t>화살표를 눌러 다른 영양소 그래프 확인 가능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1091043"/>
                  </a:ext>
                </a:extLst>
              </a:tr>
            </a:tbl>
          </a:graphicData>
        </a:graphic>
      </p:graphicFrame>
      <p:sp>
        <p:nvSpPr>
          <p:cNvPr id="2" name="타원 1">
            <a:extLst>
              <a:ext uri="{FF2B5EF4-FFF2-40B4-BE49-F238E27FC236}">
                <a16:creationId xmlns:a16="http://schemas.microsoft.com/office/drawing/2014/main" id="{CFA4621C-5EB8-811B-072B-A85ED9144CF2}"/>
              </a:ext>
            </a:extLst>
          </p:cNvPr>
          <p:cNvSpPr>
            <a:spLocks noChangeAspect="1"/>
          </p:cNvSpPr>
          <p:nvPr/>
        </p:nvSpPr>
        <p:spPr>
          <a:xfrm>
            <a:off x="6990537" y="2341882"/>
            <a:ext cx="324000" cy="324000"/>
          </a:xfrm>
          <a:prstGeom prst="ellipse">
            <a:avLst/>
          </a:prstGeom>
          <a:solidFill>
            <a:srgbClr val="C00000">
              <a:alpha val="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>
                <a:latin typeface="+mn-ea"/>
              </a:rPr>
              <a:t>3</a:t>
            </a:r>
            <a:endParaRPr lang="ko-KR" altLang="en-US" sz="2000">
              <a:latin typeface="+mn-ea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6927301E-47D9-D7C6-EBF6-3EEBDCE32BE6}"/>
              </a:ext>
            </a:extLst>
          </p:cNvPr>
          <p:cNvSpPr>
            <a:spLocks noChangeAspect="1"/>
          </p:cNvSpPr>
          <p:nvPr/>
        </p:nvSpPr>
        <p:spPr>
          <a:xfrm>
            <a:off x="4355745" y="2147855"/>
            <a:ext cx="324000" cy="324000"/>
          </a:xfrm>
          <a:prstGeom prst="ellipse">
            <a:avLst/>
          </a:prstGeom>
          <a:solidFill>
            <a:srgbClr val="C00000">
              <a:alpha val="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>
                <a:latin typeface="+mn-ea"/>
              </a:rPr>
              <a:t>2</a:t>
            </a:r>
            <a:endParaRPr lang="ko-KR" altLang="en-US" sz="2000">
              <a:latin typeface="+mn-ea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D4E14AD0-C0F5-B974-6574-7EBB78BAB894}"/>
              </a:ext>
            </a:extLst>
          </p:cNvPr>
          <p:cNvSpPr>
            <a:spLocks noChangeAspect="1"/>
          </p:cNvSpPr>
          <p:nvPr/>
        </p:nvSpPr>
        <p:spPr>
          <a:xfrm>
            <a:off x="4468560" y="3302157"/>
            <a:ext cx="324000" cy="324000"/>
          </a:xfrm>
          <a:prstGeom prst="ellipse">
            <a:avLst/>
          </a:prstGeom>
          <a:solidFill>
            <a:srgbClr val="C00000">
              <a:alpha val="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>
                <a:latin typeface="+mn-ea"/>
              </a:rPr>
              <a:t>4</a:t>
            </a:r>
            <a:endParaRPr lang="ko-KR" altLang="en-US" sz="2000">
              <a:latin typeface="+mn-ea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38187DEF-3384-550D-8C48-ECFE9D1C26D8}"/>
              </a:ext>
            </a:extLst>
          </p:cNvPr>
          <p:cNvSpPr>
            <a:spLocks noChangeAspect="1"/>
          </p:cNvSpPr>
          <p:nvPr/>
        </p:nvSpPr>
        <p:spPr>
          <a:xfrm>
            <a:off x="7854864" y="4943178"/>
            <a:ext cx="324000" cy="324000"/>
          </a:xfrm>
          <a:prstGeom prst="ellipse">
            <a:avLst/>
          </a:prstGeom>
          <a:solidFill>
            <a:srgbClr val="C00000">
              <a:alpha val="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>
                <a:latin typeface="+mn-ea"/>
              </a:rPr>
              <a:t>5</a:t>
            </a:r>
            <a:endParaRPr lang="ko-KR" altLang="en-US" sz="2000">
              <a:latin typeface="+mn-ea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455901E0-447B-8A52-8C8D-16645C03869B}"/>
              </a:ext>
            </a:extLst>
          </p:cNvPr>
          <p:cNvSpPr>
            <a:spLocks noChangeAspect="1"/>
          </p:cNvSpPr>
          <p:nvPr/>
        </p:nvSpPr>
        <p:spPr>
          <a:xfrm>
            <a:off x="546491" y="2628983"/>
            <a:ext cx="324000" cy="324000"/>
          </a:xfrm>
          <a:prstGeom prst="ellipse">
            <a:avLst/>
          </a:prstGeom>
          <a:solidFill>
            <a:srgbClr val="C00000">
              <a:alpha val="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>
                <a:latin typeface="+mn-ea"/>
              </a:rPr>
              <a:t>1</a:t>
            </a:r>
            <a:endParaRPr lang="ko-KR" altLang="en-US" sz="20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101674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5809</TotalTime>
  <Words>443</Words>
  <Application>Microsoft Office PowerPoint</Application>
  <PresentationFormat>와이드스크린</PresentationFormat>
  <Paragraphs>140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6" baseType="lpstr">
      <vt:lpstr>Noto Sans KR</vt:lpstr>
      <vt:lpstr>맑은 고딕</vt:lpstr>
      <vt:lpstr>Aptos</vt:lpstr>
      <vt:lpstr>Aptos Display</vt:lpstr>
      <vt:lpstr>Arial</vt:lpstr>
      <vt:lpstr>Office 테마</vt:lpstr>
      <vt:lpstr>영양소 섭취 기반 고콜레스테롤혈증 위험도 예측 및 자가 진단 서비스</vt:lpstr>
      <vt:lpstr>기획의도 Background &amp; Purpose</vt:lpstr>
      <vt:lpstr>기획의도 Background &amp; Purpose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110</cp:revision>
  <dcterms:created xsi:type="dcterms:W3CDTF">2026-03-13T06:49:36Z</dcterms:created>
  <dcterms:modified xsi:type="dcterms:W3CDTF">2026-05-14T02:36:03Z</dcterms:modified>
</cp:coreProperties>
</file>