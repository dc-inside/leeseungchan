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256" r:id="rId2"/>
    <p:sldId id="261" r:id="rId3"/>
    <p:sldId id="277" r:id="rId4"/>
    <p:sldId id="270" r:id="rId5"/>
    <p:sldId id="259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" id="{07626288-CB30-4427-ADE0-ADF0697BF9D9}">
          <p14:sldIdLst>
            <p14:sldId id="256"/>
          </p14:sldIdLst>
        </p14:section>
        <p14:section name="기획의도" id="{5776D462-103A-4A94-B329-79D7A809B440}">
          <p14:sldIdLst>
            <p14:sldId id="261"/>
            <p14:sldId id="277"/>
          </p14:sldIdLst>
        </p14:section>
        <p14:section name="개발목표" id="{68215A09-B176-47FD-B779-768E16B11801}">
          <p14:sldIdLst>
            <p14:sldId id="270"/>
          </p14:sldIdLst>
        </p14:section>
        <p14:section name="개발 스케줄" id="{3B2639DA-94DE-47E4-BC35-687CBCEDE099}">
          <p14:sldIdLst>
            <p14:sldId id="259"/>
          </p14:sldIdLst>
        </p14:section>
        <p14:section name="화면설계서" id="{E4806D9E-3AD0-4089-A3C6-C15EABD6A583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143AD7-E749-5E1E-371D-A585C0C727CD}" name="User" initials="Own" userId="User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9A2857-52EE-4322-B040-F7AE6E3FFBF0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E3F50E-80B0-4F85-9BA7-8539A8FB3F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232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726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841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013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47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499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5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92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061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736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4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939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097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1441BF8-BC31-A14F-06C9-DCC0D1B6E63B}"/>
              </a:ext>
            </a:extLst>
          </p:cNvPr>
          <p:cNvSpPr>
            <a:spLocks/>
          </p:cNvSpPr>
          <p:nvPr/>
        </p:nvSpPr>
        <p:spPr>
          <a:xfrm>
            <a:off x="3048000" y="-11750"/>
            <a:ext cx="6096000" cy="686975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8F91D04-0044-5B44-D76A-127E2B5A9B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24039" y="1462917"/>
            <a:ext cx="4943918" cy="1277604"/>
          </a:xfrm>
        </p:spPr>
        <p:txBody>
          <a:bodyPr>
            <a:noAutofit/>
          </a:bodyPr>
          <a:lstStyle/>
          <a:p>
            <a:pPr algn="ctr" latinLnBrk="0">
              <a:lnSpc>
                <a:spcPct val="100000"/>
              </a:lnSpc>
            </a:pP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영양소 섭취 기반 </a:t>
            </a:r>
            <a:r>
              <a:rPr lang="ko-KR" altLang="en-US" sz="2000" b="1" i="0" dirty="0" err="1">
                <a:solidFill>
                  <a:schemeClr val="bg1"/>
                </a:solidFill>
                <a:effectLst/>
                <a:latin typeface="Noto Sans KR"/>
              </a:rPr>
              <a:t>고콜레스테롤혈증</a:t>
            </a: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 위험도 예측 및</a:t>
            </a:r>
            <a:b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</a:b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맞춤형 식습관 개선 가이드 모델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CA0800-7F4B-02AB-743F-7001CA25EE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70514" y="5492792"/>
            <a:ext cx="1050968" cy="1365208"/>
          </a:xfrm>
        </p:spPr>
        <p:txBody>
          <a:bodyPr>
            <a:normAutofit/>
          </a:bodyPr>
          <a:lstStyle/>
          <a:p>
            <a:r>
              <a:rPr lang="en-US" altLang="ko-KR" sz="1200">
                <a:solidFill>
                  <a:schemeClr val="bg1">
                    <a:lumMod val="85000"/>
                  </a:schemeClr>
                </a:solidFill>
              </a:rPr>
              <a:t>Presenter</a:t>
            </a:r>
          </a:p>
          <a:p>
            <a:r>
              <a:rPr lang="ko-KR" altLang="en-US" sz="1600" b="1">
                <a:solidFill>
                  <a:schemeClr val="bg1"/>
                </a:solidFill>
              </a:rPr>
              <a:t>이 승 찬</a:t>
            </a:r>
            <a:endParaRPr lang="en-US" altLang="ko-KR" sz="1600" b="1">
              <a:solidFill>
                <a:schemeClr val="bg1"/>
              </a:solidFill>
            </a:endParaRPr>
          </a:p>
          <a:p>
            <a:endParaRPr lang="en-US" altLang="ko-KR" sz="1200" b="1">
              <a:solidFill>
                <a:schemeClr val="bg1"/>
              </a:solidFill>
            </a:endParaRPr>
          </a:p>
          <a:p>
            <a:r>
              <a:rPr lang="en-US" altLang="ko-KR" sz="1200" b="1">
                <a:solidFill>
                  <a:schemeClr val="bg1">
                    <a:lumMod val="85000"/>
                  </a:schemeClr>
                </a:solidFill>
              </a:rPr>
              <a:t>2026.03.17</a:t>
            </a:r>
            <a:endParaRPr lang="ko-KR" altLang="en-US" sz="1200" b="1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1865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7780" y="2334957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외식 및 가공식품 섭취 빈도 증가</a:t>
            </a: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endParaRPr lang="en-US" altLang="ko-KR" sz="1400" b="0" i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ans KR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지방</a:t>
            </a:r>
            <a:r>
              <a:rPr lang="en-US" altLang="ko-KR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나트륨</a:t>
            </a:r>
            <a:r>
              <a:rPr lang="en-US" altLang="ko-KR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당류 과잉섭취 일상화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87460" y="4670106"/>
            <a:ext cx="3850221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잘못된 식습관으로 인한</a:t>
            </a:r>
            <a:endParaRPr lang="en-US" altLang="ko-KR" sz="1400">
              <a:solidFill>
                <a:schemeClr val="tx1">
                  <a:lumMod val="65000"/>
                  <a:lumOff val="35000"/>
                </a:schemeClr>
              </a:solidFill>
              <a:latin typeface="Noto Sans KR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latin typeface="Noto Sans KR"/>
              </a:rPr>
              <a:t>고콜레스테롤혈증 만성질환 유병률 증가</a:t>
            </a:r>
            <a:endParaRPr lang="ko-KR" altLang="en-US" sz="1400" b="1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CA5E893-BE61-1B2C-5561-000A6EBB9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414571" y="3656315"/>
            <a:ext cx="396000" cy="3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그림 6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5911AD8-7656-D881-A124-7493626DDB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5468106"/>
            <a:ext cx="5968686" cy="1193737"/>
          </a:xfrm>
          <a:prstGeom prst="rect">
            <a:avLst/>
          </a:prstGeom>
        </p:spPr>
      </p:pic>
      <p:pic>
        <p:nvPicPr>
          <p:cNvPr id="9" name="그림 8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591396A-9BEA-DDB6-E92C-B999E1AB0E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3690022"/>
            <a:ext cx="5974567" cy="1752540"/>
          </a:xfrm>
          <a:prstGeom prst="rect">
            <a:avLst/>
          </a:prstGeom>
        </p:spPr>
      </p:pic>
      <p:pic>
        <p:nvPicPr>
          <p:cNvPr id="11" name="그림 10" descr="텍스트, 스크린샷, 폰트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4A37FBE-1B79-0C8E-CCFC-8E9EDC22DC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2576966"/>
            <a:ext cx="5974566" cy="1193737"/>
          </a:xfrm>
          <a:prstGeom prst="rect">
            <a:avLst/>
          </a:prstGeom>
        </p:spPr>
      </p:pic>
      <p:pic>
        <p:nvPicPr>
          <p:cNvPr id="19" name="그림 18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07E56B8-2817-C9FE-115E-B032A85950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5" y="1492335"/>
            <a:ext cx="5974565" cy="108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28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7780" y="2331482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이상지질혈증 검사주기 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4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(2018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 조정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검사주기가 길어 조기 대처 어려움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824750" y="4666629"/>
            <a:ext cx="3575640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개인마다 다른 관리 특성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(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성별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, 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나이 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latin typeface="Noto Sans KR"/>
              </a:rPr>
              <a:t>개인별 맞춤 관리 가이드 필요</a:t>
            </a:r>
            <a:endParaRPr lang="en-US" altLang="ko-KR" sz="1600" b="1"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그림 9" descr="텍스트, 폰트, 스크린샷, 화이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698F1AE-2535-C086-85FF-13648D650D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4805543"/>
            <a:ext cx="5121554" cy="1392647"/>
          </a:xfrm>
          <a:prstGeom prst="rect">
            <a:avLst/>
          </a:prstGeom>
        </p:spPr>
      </p:pic>
      <p:pic>
        <p:nvPicPr>
          <p:cNvPr id="14" name="그림 13" descr="텍스트, 폰트, 스크린샷, 대수학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E14F6A6-2746-F634-423E-B26B121875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3324310"/>
            <a:ext cx="5121553" cy="1481233"/>
          </a:xfrm>
          <a:prstGeom prst="rect">
            <a:avLst/>
          </a:prstGeom>
        </p:spPr>
      </p:pic>
      <p:pic>
        <p:nvPicPr>
          <p:cNvPr id="17" name="그림 16" descr="텍스트, 폰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026F65-1B13-3798-E2A4-D0BEE936F0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1" y="1915525"/>
            <a:ext cx="5121553" cy="140775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D60B9FC-7435-EF43-5B54-C230574E2F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69057" y="3664056"/>
            <a:ext cx="487026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1346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5F43BA5-0951-583E-766C-8FC261381A3D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7C34BB3-C32B-9ADD-77C1-8351E456180D}"/>
              </a:ext>
            </a:extLst>
          </p:cNvPr>
          <p:cNvSpPr/>
          <p:nvPr/>
        </p:nvSpPr>
        <p:spPr>
          <a:xfrm>
            <a:off x="6436585" y="1815151"/>
            <a:ext cx="5441075" cy="44079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6DA42CF-0839-AB13-9F4C-B1358EA1A49D}"/>
              </a:ext>
            </a:extLst>
          </p:cNvPr>
          <p:cNvSpPr/>
          <p:nvPr/>
        </p:nvSpPr>
        <p:spPr>
          <a:xfrm>
            <a:off x="314329" y="1815152"/>
            <a:ext cx="5441087" cy="4407899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609585" y="2242726"/>
            <a:ext cx="5095073" cy="4648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800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머신러닝 기반 콜레스테롤 위험도 예측 엔진 개발</a:t>
            </a:r>
            <a:endParaRPr lang="en-US" altLang="ko-KR" sz="1800" b="1">
              <a:solidFill>
                <a:schemeClr val="bg1">
                  <a:lumMod val="95000"/>
                </a:schemeClr>
              </a:solidFill>
              <a:latin typeface="Noto Sans K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372C32-8F73-FAB9-E521-1E48EB1C7047}"/>
              </a:ext>
            </a:extLst>
          </p:cNvPr>
          <p:cNvSpPr txBox="1"/>
          <p:nvPr/>
        </p:nvSpPr>
        <p:spPr>
          <a:xfrm>
            <a:off x="6609585" y="2998112"/>
            <a:ext cx="4920745" cy="2178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통합 데이터셋 기반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고콜레스테롤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발생 위험도 산출 지도학습 모델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개발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개별 요인의 위험도 및 영향도 정량적 분석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분석된 데이터에서 고콜레스테롤 위험 요인과 수치를 인포그래픽으로 시각화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08675D1-E235-486E-65AD-299E40A1A0DE}"/>
              </a:ext>
            </a:extLst>
          </p:cNvPr>
          <p:cNvSpPr txBox="1">
            <a:spLocks/>
          </p:cNvSpPr>
          <p:nvPr/>
        </p:nvSpPr>
        <p:spPr>
          <a:xfrm>
            <a:off x="603252" y="232090"/>
            <a:ext cx="2110259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개발목표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Objectives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17963F5-4548-6EE0-0AF0-5D28ADF07127}"/>
              </a:ext>
            </a:extLst>
          </p:cNvPr>
          <p:cNvCxnSpPr>
            <a:cxnSpLocks/>
          </p:cNvCxnSpPr>
          <p:nvPr/>
        </p:nvCxnSpPr>
        <p:spPr>
          <a:xfrm>
            <a:off x="6096000" y="1908000"/>
            <a:ext cx="0" cy="4214194"/>
          </a:xfrm>
          <a:prstGeom prst="line">
            <a:avLst/>
          </a:prstGeom>
          <a:ln>
            <a:solidFill>
              <a:schemeClr val="dk1">
                <a:alpha val="8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7E11CF9-6752-0478-C4EE-7AFF12AF853A}"/>
              </a:ext>
            </a:extLst>
          </p:cNvPr>
          <p:cNvSpPr txBox="1"/>
          <p:nvPr/>
        </p:nvSpPr>
        <p:spPr>
          <a:xfrm>
            <a:off x="603252" y="2998112"/>
            <a:ext cx="4972211" cy="2609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식품섭취조사 데이터 활용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개인별 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1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일 영양소 섭취량 산출 체계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수립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연령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/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성별 표준 섭취량 비율 및 섭취 균형도를 수치화한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영양 패턴 지표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생성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사회경제적 요소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소득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교육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생활습관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운동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흡연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을 결합하여 분석 데이터의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상관관계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분석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79F87A-CFA9-9020-A18E-9860BACEC567}"/>
              </a:ext>
            </a:extLst>
          </p:cNvPr>
          <p:cNvSpPr txBox="1"/>
          <p:nvPr/>
        </p:nvSpPr>
        <p:spPr>
          <a:xfrm>
            <a:off x="773222" y="2242726"/>
            <a:ext cx="4523296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다차원 복합 요인 기반 정밀 데이터셋 구축</a:t>
            </a:r>
            <a:endParaRPr lang="ko-KR" altLang="en-US" b="1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005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FBB337-B530-64AE-493F-26C1184D6BC6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B21E77-88D1-0F37-CAD7-BE7EC7FC1682}"/>
              </a:ext>
            </a:extLst>
          </p:cNvPr>
          <p:cNvSpPr txBox="1">
            <a:spLocks/>
          </p:cNvSpPr>
          <p:nvPr/>
        </p:nvSpPr>
        <p:spPr>
          <a:xfrm>
            <a:off x="603253" y="234000"/>
            <a:ext cx="2883105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 스케줄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Schedule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3E47092-7530-6E9D-2551-F0A4B2C89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2189341"/>
            <a:ext cx="11690350" cy="3540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1039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5537</TotalTime>
  <Words>172</Words>
  <Application>Microsoft Office PowerPoint</Application>
  <PresentationFormat>와이드스크린</PresentationFormat>
  <Paragraphs>25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1" baseType="lpstr">
      <vt:lpstr>Noto Sans KR</vt:lpstr>
      <vt:lpstr>맑은 고딕</vt:lpstr>
      <vt:lpstr>Aptos</vt:lpstr>
      <vt:lpstr>Aptos Display</vt:lpstr>
      <vt:lpstr>Arial</vt:lpstr>
      <vt:lpstr>Office 테마</vt:lpstr>
      <vt:lpstr>영양소 섭취 기반 고콜레스테롤혈증 위험도 예측 및 맞춤형 식습관 개선 가이드 모델</vt:lpstr>
      <vt:lpstr>기획의도 Background &amp; Purpose</vt:lpstr>
      <vt:lpstr>기획의도 Background &amp; Purpose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77</cp:revision>
  <dcterms:created xsi:type="dcterms:W3CDTF">2026-03-13T06:49:36Z</dcterms:created>
  <dcterms:modified xsi:type="dcterms:W3CDTF">2026-03-22T15:57:41Z</dcterms:modified>
</cp:coreProperties>
</file>