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61" r:id="rId3"/>
    <p:sldId id="262" r:id="rId4"/>
    <p:sldId id="259" r:id="rId5"/>
    <p:sldId id="260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" id="{07626288-CB30-4427-ADE0-ADF0697BF9D9}">
          <p14:sldIdLst>
            <p14:sldId id="256"/>
          </p14:sldIdLst>
        </p14:section>
        <p14:section name="본문" id="{5776D462-103A-4A94-B329-79D7A809B440}">
          <p14:sldIdLst>
            <p14:sldId id="261"/>
            <p14:sldId id="262"/>
            <p14:sldId id="259"/>
            <p14:sldId id="260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A2857-52EE-4322-B040-F7AE6E3FFBF0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3F50E-80B0-4F85-9BA7-8539A8FB3F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232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726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4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013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47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49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92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061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73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41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93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FF700-8BFB-4C30-A2B6-F509E51DF773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097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91D04-0044-5B44-D76A-127E2B5A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1963" y="1676360"/>
            <a:ext cx="5708073" cy="1643619"/>
          </a:xfrm>
        </p:spPr>
        <p:txBody>
          <a:bodyPr>
            <a:noAutofit/>
          </a:bodyPr>
          <a:lstStyle/>
          <a:p>
            <a:pPr algn="ctr" latinLnBrk="0"/>
            <a:r>
              <a:rPr lang="ko-KR" altLang="en-US" sz="3200" b="1" i="0">
                <a:solidFill>
                  <a:srgbClr val="111827"/>
                </a:solidFill>
                <a:effectLst/>
                <a:latin typeface="Noto Sans KR"/>
              </a:rPr>
              <a:t>영양소 섭취 패턴 기반</a:t>
            </a:r>
            <a:br>
              <a:rPr lang="ko-KR" altLang="en-US" sz="3200" b="1" i="0">
                <a:solidFill>
                  <a:srgbClr val="111827"/>
                </a:solidFill>
                <a:effectLst/>
                <a:latin typeface="Noto Sans KR"/>
              </a:rPr>
            </a:br>
            <a:r>
              <a:rPr lang="ko-KR" altLang="en-US" sz="3200" b="1" i="0">
                <a:solidFill>
                  <a:srgbClr val="374151"/>
                </a:solidFill>
                <a:effectLst/>
                <a:latin typeface="Noto Sans KR"/>
              </a:rPr>
              <a:t>이상지질혈증 위험도 예측</a:t>
            </a:r>
            <a:r>
              <a:rPr lang="ko-KR" altLang="en-US" sz="3200" b="1" i="0">
                <a:solidFill>
                  <a:srgbClr val="111827"/>
                </a:solidFill>
                <a:effectLst/>
                <a:latin typeface="Noto Sans KR"/>
              </a:rPr>
              <a:t> 및</a:t>
            </a:r>
            <a:br>
              <a:rPr lang="ko-KR" altLang="en-US" sz="3200" b="1" i="0">
                <a:solidFill>
                  <a:srgbClr val="111827"/>
                </a:solidFill>
                <a:effectLst/>
                <a:latin typeface="Noto Sans KR"/>
              </a:rPr>
            </a:br>
            <a:r>
              <a:rPr lang="ko-KR" altLang="en-US" sz="2800" b="1" i="0">
                <a:solidFill>
                  <a:srgbClr val="6B7280"/>
                </a:solidFill>
                <a:effectLst/>
                <a:latin typeface="Noto Sans KR"/>
              </a:rPr>
              <a:t>맞춤형 식습관 개선 가이드 모델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CA0800-7F4B-02AB-743F-7001CA25E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0515" y="4695949"/>
            <a:ext cx="1050968" cy="855023"/>
          </a:xfrm>
        </p:spPr>
        <p:txBody>
          <a:bodyPr>
            <a:normAutofit/>
          </a:bodyPr>
          <a:lstStyle/>
          <a:p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Presenter</a:t>
            </a:r>
          </a:p>
          <a:p>
            <a:r>
              <a:rPr lang="ko-KR" altLang="en-US" sz="2000" b="1"/>
              <a:t>이 승 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654B26-59B6-6455-CF46-7189600EC228}"/>
              </a:ext>
            </a:extLst>
          </p:cNvPr>
          <p:cNvSpPr txBox="1"/>
          <p:nvPr/>
        </p:nvSpPr>
        <p:spPr>
          <a:xfrm>
            <a:off x="4275630" y="937696"/>
            <a:ext cx="3640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0" i="0" cap="all">
                <a:solidFill>
                  <a:srgbClr val="6B7280"/>
                </a:solidFill>
                <a:effectLst/>
                <a:latin typeface="Noto Sans KR"/>
              </a:rPr>
              <a:t>생성형 </a:t>
            </a:r>
            <a:r>
              <a:rPr lang="en-US" altLang="ko-KR" b="0" i="0" cap="all">
                <a:solidFill>
                  <a:srgbClr val="6B7280"/>
                </a:solidFill>
                <a:effectLst/>
                <a:latin typeface="Noto Sans KR"/>
              </a:rPr>
              <a:t>AI </a:t>
            </a:r>
            <a:r>
              <a:rPr lang="ko-KR" altLang="en-US" b="0" i="0" cap="all">
                <a:solidFill>
                  <a:srgbClr val="6B7280"/>
                </a:solidFill>
                <a:effectLst/>
                <a:latin typeface="Noto Sans KR"/>
              </a:rPr>
              <a:t>기반 서비스 개발자 양성</a:t>
            </a:r>
            <a:endParaRPr lang="en-US" altLang="ko-KR" b="0" i="0" cap="all">
              <a:solidFill>
                <a:srgbClr val="6B7280"/>
              </a:solidFill>
              <a:effectLst/>
              <a:latin typeface="Noto Sans KR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77DD429-CB33-2EF7-E6B3-361CCE414DD1}"/>
              </a:ext>
            </a:extLst>
          </p:cNvPr>
          <p:cNvCxnSpPr>
            <a:cxnSpLocks/>
          </p:cNvCxnSpPr>
          <p:nvPr/>
        </p:nvCxnSpPr>
        <p:spPr>
          <a:xfrm>
            <a:off x="4275630" y="1307028"/>
            <a:ext cx="36407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C082F9A-3391-5AC3-6BBA-AB6C5E3B7B28}"/>
              </a:ext>
            </a:extLst>
          </p:cNvPr>
          <p:cNvCxnSpPr>
            <a:cxnSpLocks/>
          </p:cNvCxnSpPr>
          <p:nvPr/>
        </p:nvCxnSpPr>
        <p:spPr>
          <a:xfrm>
            <a:off x="5570515" y="4458442"/>
            <a:ext cx="105096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865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5BA4F-DA62-4ACF-71F5-86330591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1" y="696848"/>
            <a:ext cx="2883105" cy="1325563"/>
          </a:xfrm>
        </p:spPr>
        <p:txBody>
          <a:bodyPr>
            <a:normAutofit/>
          </a:bodyPr>
          <a:lstStyle/>
          <a:p>
            <a:r>
              <a:rPr lang="ko-KR" altLang="en-US" sz="3200" b="1"/>
              <a:t>기획의도</a:t>
            </a:r>
            <a:br>
              <a:rPr lang="en-US" altLang="ko-KR" sz="3200" b="1"/>
            </a:br>
            <a:r>
              <a:rPr lang="en-US" altLang="ko-KR" sz="1400" b="0" i="0">
                <a:solidFill>
                  <a:srgbClr val="6B7280"/>
                </a:solidFill>
                <a:effectLst/>
                <a:latin typeface="Noto Sans KR"/>
              </a:rPr>
              <a:t>Background &amp; Purpose</a:t>
            </a:r>
            <a:endParaRPr lang="ko-KR" altLang="en-US" sz="14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0445D-6120-B7A6-8C93-5DFA85968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243" y="2604670"/>
            <a:ext cx="4782757" cy="965077"/>
          </a:xfrm>
        </p:spPr>
        <p:txBody>
          <a:bodyPr/>
          <a:lstStyle/>
          <a:p>
            <a:pPr marL="0" indent="0" algn="l">
              <a:buNone/>
            </a:pPr>
            <a:r>
              <a:rPr lang="ko-KR" altLang="en-US" sz="1800" b="1" i="0">
                <a:effectLst/>
                <a:latin typeface="Noto Sans KR"/>
              </a:rPr>
              <a:t>현대인 식생활 문제 심화</a:t>
            </a:r>
          </a:p>
          <a:p>
            <a:pPr marL="0" indent="0">
              <a:buNone/>
            </a:pPr>
            <a:r>
              <a:rPr lang="ko-KR" altLang="en-US" sz="14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/>
              </a:rPr>
              <a:t>외식 및 가공식품 섭취 증가</a:t>
            </a:r>
            <a:r>
              <a:rPr lang="ko-KR" altLang="en-US" sz="1400" b="1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/>
              </a:rPr>
              <a:t> </a:t>
            </a:r>
            <a:r>
              <a:rPr lang="ko-KR" altLang="en-US" sz="1400" b="1" i="0">
                <a:effectLst/>
                <a:latin typeface="Noto Sans KR"/>
              </a:rPr>
              <a:t>지방</a:t>
            </a:r>
            <a:r>
              <a:rPr lang="en-US" altLang="ko-KR" sz="1400" b="1" i="0">
                <a:effectLst/>
                <a:latin typeface="Noto Sans KR"/>
              </a:rPr>
              <a:t>, </a:t>
            </a:r>
            <a:r>
              <a:rPr lang="ko-KR" altLang="en-US" sz="1400" b="1" i="0">
                <a:effectLst/>
                <a:latin typeface="Noto Sans KR"/>
              </a:rPr>
              <a:t>당류</a:t>
            </a:r>
            <a:r>
              <a:rPr lang="en-US" altLang="ko-KR" sz="1400" b="1" i="0">
                <a:effectLst/>
                <a:latin typeface="Noto Sans KR"/>
              </a:rPr>
              <a:t>, </a:t>
            </a:r>
            <a:r>
              <a:rPr lang="ko-KR" altLang="en-US" sz="1400" b="1" i="0">
                <a:effectLst/>
                <a:latin typeface="Noto Sans KR"/>
              </a:rPr>
              <a:t>나트륨의 과잉 섭취</a:t>
            </a:r>
            <a:r>
              <a:rPr lang="ko-KR" altLang="en-US" sz="140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/>
              </a:rPr>
              <a:t>가</a:t>
            </a:r>
            <a:r>
              <a:rPr lang="ko-KR" altLang="en-US" sz="1400" b="1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/>
              </a:rPr>
              <a:t> </a:t>
            </a:r>
            <a:r>
              <a:rPr lang="ko-KR" altLang="en-US" sz="14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/>
              </a:rPr>
              <a:t>일상화되어 심각한 영양 불균형 초래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그림 9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0E1470B-2FAA-6645-115D-938C838B9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3" y="2853208"/>
            <a:ext cx="468000" cy="468000"/>
          </a:xfrm>
          <a:prstGeom prst="rect">
            <a:avLst/>
          </a:prstGeom>
          <a:ln w="12700" cap="rnd">
            <a:noFill/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161662"/>
                      <a:gd name="connsiteY0" fmla="*/ 0 h 4161662"/>
                      <a:gd name="connsiteX1" fmla="*/ 677756 w 4161662"/>
                      <a:gd name="connsiteY1" fmla="*/ 0 h 4161662"/>
                      <a:gd name="connsiteX2" fmla="*/ 1355513 w 4161662"/>
                      <a:gd name="connsiteY2" fmla="*/ 0 h 4161662"/>
                      <a:gd name="connsiteX3" fmla="*/ 1950036 w 4161662"/>
                      <a:gd name="connsiteY3" fmla="*/ 0 h 4161662"/>
                      <a:gd name="connsiteX4" fmla="*/ 2586176 w 4161662"/>
                      <a:gd name="connsiteY4" fmla="*/ 0 h 4161662"/>
                      <a:gd name="connsiteX5" fmla="*/ 3139082 w 4161662"/>
                      <a:gd name="connsiteY5" fmla="*/ 0 h 4161662"/>
                      <a:gd name="connsiteX6" fmla="*/ 4161662 w 4161662"/>
                      <a:gd name="connsiteY6" fmla="*/ 0 h 4161662"/>
                      <a:gd name="connsiteX7" fmla="*/ 4161662 w 4161662"/>
                      <a:gd name="connsiteY7" fmla="*/ 677756 h 4161662"/>
                      <a:gd name="connsiteX8" fmla="*/ 4161662 w 4161662"/>
                      <a:gd name="connsiteY8" fmla="*/ 1189046 h 4161662"/>
                      <a:gd name="connsiteX9" fmla="*/ 4161662 w 4161662"/>
                      <a:gd name="connsiteY9" fmla="*/ 1658720 h 4161662"/>
                      <a:gd name="connsiteX10" fmla="*/ 4161662 w 4161662"/>
                      <a:gd name="connsiteY10" fmla="*/ 2170009 h 4161662"/>
                      <a:gd name="connsiteX11" fmla="*/ 4161662 w 4161662"/>
                      <a:gd name="connsiteY11" fmla="*/ 2722916 h 4161662"/>
                      <a:gd name="connsiteX12" fmla="*/ 4161662 w 4161662"/>
                      <a:gd name="connsiteY12" fmla="*/ 3317439 h 4161662"/>
                      <a:gd name="connsiteX13" fmla="*/ 4161662 w 4161662"/>
                      <a:gd name="connsiteY13" fmla="*/ 4161662 h 4161662"/>
                      <a:gd name="connsiteX14" fmla="*/ 3483906 w 4161662"/>
                      <a:gd name="connsiteY14" fmla="*/ 4161662 h 4161662"/>
                      <a:gd name="connsiteX15" fmla="*/ 2889382 w 4161662"/>
                      <a:gd name="connsiteY15" fmla="*/ 4161662 h 4161662"/>
                      <a:gd name="connsiteX16" fmla="*/ 2294859 w 4161662"/>
                      <a:gd name="connsiteY16" fmla="*/ 4161662 h 4161662"/>
                      <a:gd name="connsiteX17" fmla="*/ 1700336 w 4161662"/>
                      <a:gd name="connsiteY17" fmla="*/ 4161662 h 4161662"/>
                      <a:gd name="connsiteX18" fmla="*/ 1105813 w 4161662"/>
                      <a:gd name="connsiteY18" fmla="*/ 4161662 h 4161662"/>
                      <a:gd name="connsiteX19" fmla="*/ 552907 w 4161662"/>
                      <a:gd name="connsiteY19" fmla="*/ 4161662 h 4161662"/>
                      <a:gd name="connsiteX20" fmla="*/ 0 w 4161662"/>
                      <a:gd name="connsiteY20" fmla="*/ 4161662 h 4161662"/>
                      <a:gd name="connsiteX21" fmla="*/ 0 w 4161662"/>
                      <a:gd name="connsiteY21" fmla="*/ 3567139 h 4161662"/>
                      <a:gd name="connsiteX22" fmla="*/ 0 w 4161662"/>
                      <a:gd name="connsiteY22" fmla="*/ 2930999 h 4161662"/>
                      <a:gd name="connsiteX23" fmla="*/ 0 w 4161662"/>
                      <a:gd name="connsiteY23" fmla="*/ 2294859 h 4161662"/>
                      <a:gd name="connsiteX24" fmla="*/ 0 w 4161662"/>
                      <a:gd name="connsiteY24" fmla="*/ 1617103 h 4161662"/>
                      <a:gd name="connsiteX25" fmla="*/ 0 w 4161662"/>
                      <a:gd name="connsiteY25" fmla="*/ 1022580 h 4161662"/>
                      <a:gd name="connsiteX26" fmla="*/ 0 w 4161662"/>
                      <a:gd name="connsiteY26" fmla="*/ 0 h 41616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4161662" h="4161662" fill="none" extrusionOk="0">
                        <a:moveTo>
                          <a:pt x="0" y="0"/>
                        </a:moveTo>
                        <a:cubicBezTo>
                          <a:pt x="146926" y="-49179"/>
                          <a:pt x="423112" y="76956"/>
                          <a:pt x="677756" y="0"/>
                        </a:cubicBezTo>
                        <a:cubicBezTo>
                          <a:pt x="932400" y="-76956"/>
                          <a:pt x="1175110" y="63608"/>
                          <a:pt x="1355513" y="0"/>
                        </a:cubicBezTo>
                        <a:cubicBezTo>
                          <a:pt x="1535916" y="-63608"/>
                          <a:pt x="1693715" y="59913"/>
                          <a:pt x="1950036" y="0"/>
                        </a:cubicBezTo>
                        <a:cubicBezTo>
                          <a:pt x="2206357" y="-59913"/>
                          <a:pt x="2440393" y="51885"/>
                          <a:pt x="2586176" y="0"/>
                        </a:cubicBezTo>
                        <a:cubicBezTo>
                          <a:pt x="2731959" y="-51885"/>
                          <a:pt x="2897339" y="11509"/>
                          <a:pt x="3139082" y="0"/>
                        </a:cubicBezTo>
                        <a:cubicBezTo>
                          <a:pt x="3380825" y="-11509"/>
                          <a:pt x="3850267" y="92030"/>
                          <a:pt x="4161662" y="0"/>
                        </a:cubicBezTo>
                        <a:cubicBezTo>
                          <a:pt x="4193447" y="244183"/>
                          <a:pt x="4113423" y="380579"/>
                          <a:pt x="4161662" y="677756"/>
                        </a:cubicBezTo>
                        <a:cubicBezTo>
                          <a:pt x="4209901" y="974933"/>
                          <a:pt x="4133575" y="1077025"/>
                          <a:pt x="4161662" y="1189046"/>
                        </a:cubicBezTo>
                        <a:cubicBezTo>
                          <a:pt x="4189749" y="1301067"/>
                          <a:pt x="4136844" y="1473854"/>
                          <a:pt x="4161662" y="1658720"/>
                        </a:cubicBezTo>
                        <a:cubicBezTo>
                          <a:pt x="4186480" y="1843586"/>
                          <a:pt x="4102672" y="2024012"/>
                          <a:pt x="4161662" y="2170009"/>
                        </a:cubicBezTo>
                        <a:cubicBezTo>
                          <a:pt x="4220652" y="2316006"/>
                          <a:pt x="4114940" y="2588273"/>
                          <a:pt x="4161662" y="2722916"/>
                        </a:cubicBezTo>
                        <a:cubicBezTo>
                          <a:pt x="4208384" y="2857559"/>
                          <a:pt x="4135370" y="3085759"/>
                          <a:pt x="4161662" y="3317439"/>
                        </a:cubicBezTo>
                        <a:cubicBezTo>
                          <a:pt x="4187954" y="3549119"/>
                          <a:pt x="4106061" y="3795915"/>
                          <a:pt x="4161662" y="4161662"/>
                        </a:cubicBezTo>
                        <a:cubicBezTo>
                          <a:pt x="4013904" y="4228695"/>
                          <a:pt x="3630628" y="4080432"/>
                          <a:pt x="3483906" y="4161662"/>
                        </a:cubicBezTo>
                        <a:cubicBezTo>
                          <a:pt x="3337184" y="4242892"/>
                          <a:pt x="3078083" y="4157000"/>
                          <a:pt x="2889382" y="4161662"/>
                        </a:cubicBezTo>
                        <a:cubicBezTo>
                          <a:pt x="2700681" y="4166324"/>
                          <a:pt x="2475360" y="4157994"/>
                          <a:pt x="2294859" y="4161662"/>
                        </a:cubicBezTo>
                        <a:cubicBezTo>
                          <a:pt x="2114358" y="4165330"/>
                          <a:pt x="1843668" y="4160905"/>
                          <a:pt x="1700336" y="4161662"/>
                        </a:cubicBezTo>
                        <a:cubicBezTo>
                          <a:pt x="1557004" y="4162419"/>
                          <a:pt x="1243994" y="4154280"/>
                          <a:pt x="1105813" y="4161662"/>
                        </a:cubicBezTo>
                        <a:cubicBezTo>
                          <a:pt x="967632" y="4169044"/>
                          <a:pt x="828129" y="4157753"/>
                          <a:pt x="552907" y="4161662"/>
                        </a:cubicBezTo>
                        <a:cubicBezTo>
                          <a:pt x="277685" y="4165571"/>
                          <a:pt x="178676" y="4096086"/>
                          <a:pt x="0" y="4161662"/>
                        </a:cubicBezTo>
                        <a:cubicBezTo>
                          <a:pt x="-14981" y="3992741"/>
                          <a:pt x="37689" y="3797757"/>
                          <a:pt x="0" y="3567139"/>
                        </a:cubicBezTo>
                        <a:cubicBezTo>
                          <a:pt x="-37689" y="3336521"/>
                          <a:pt x="27091" y="3228718"/>
                          <a:pt x="0" y="2930999"/>
                        </a:cubicBezTo>
                        <a:cubicBezTo>
                          <a:pt x="-27091" y="2633280"/>
                          <a:pt x="43696" y="2510108"/>
                          <a:pt x="0" y="2294859"/>
                        </a:cubicBezTo>
                        <a:cubicBezTo>
                          <a:pt x="-43696" y="2079610"/>
                          <a:pt x="4052" y="1817541"/>
                          <a:pt x="0" y="1617103"/>
                        </a:cubicBezTo>
                        <a:cubicBezTo>
                          <a:pt x="-4052" y="1416665"/>
                          <a:pt x="40187" y="1175011"/>
                          <a:pt x="0" y="1022580"/>
                        </a:cubicBezTo>
                        <a:cubicBezTo>
                          <a:pt x="-40187" y="870149"/>
                          <a:pt x="26983" y="470975"/>
                          <a:pt x="0" y="0"/>
                        </a:cubicBezTo>
                        <a:close/>
                      </a:path>
                      <a:path w="4161662" h="4161662" stroke="0" extrusionOk="0">
                        <a:moveTo>
                          <a:pt x="0" y="0"/>
                        </a:moveTo>
                        <a:cubicBezTo>
                          <a:pt x="161768" y="-46457"/>
                          <a:pt x="364502" y="48232"/>
                          <a:pt x="552907" y="0"/>
                        </a:cubicBezTo>
                        <a:cubicBezTo>
                          <a:pt x="741312" y="-48232"/>
                          <a:pt x="901010" y="47903"/>
                          <a:pt x="1022580" y="0"/>
                        </a:cubicBezTo>
                        <a:cubicBezTo>
                          <a:pt x="1144150" y="-47903"/>
                          <a:pt x="1425180" y="53507"/>
                          <a:pt x="1700336" y="0"/>
                        </a:cubicBezTo>
                        <a:cubicBezTo>
                          <a:pt x="1975492" y="-53507"/>
                          <a:pt x="2028110" y="7650"/>
                          <a:pt x="2253243" y="0"/>
                        </a:cubicBezTo>
                        <a:cubicBezTo>
                          <a:pt x="2478376" y="-7650"/>
                          <a:pt x="2628386" y="50070"/>
                          <a:pt x="2806149" y="0"/>
                        </a:cubicBezTo>
                        <a:cubicBezTo>
                          <a:pt x="2983912" y="-50070"/>
                          <a:pt x="3193663" y="51605"/>
                          <a:pt x="3483906" y="0"/>
                        </a:cubicBezTo>
                        <a:cubicBezTo>
                          <a:pt x="3774149" y="-51605"/>
                          <a:pt x="3855060" y="61047"/>
                          <a:pt x="4161662" y="0"/>
                        </a:cubicBezTo>
                        <a:cubicBezTo>
                          <a:pt x="4214231" y="324916"/>
                          <a:pt x="4140513" y="417896"/>
                          <a:pt x="4161662" y="677756"/>
                        </a:cubicBezTo>
                        <a:cubicBezTo>
                          <a:pt x="4182811" y="937616"/>
                          <a:pt x="4143716" y="959576"/>
                          <a:pt x="4161662" y="1189046"/>
                        </a:cubicBezTo>
                        <a:cubicBezTo>
                          <a:pt x="4179608" y="1418516"/>
                          <a:pt x="4105787" y="1527198"/>
                          <a:pt x="4161662" y="1700336"/>
                        </a:cubicBezTo>
                        <a:cubicBezTo>
                          <a:pt x="4217537" y="1873474"/>
                          <a:pt x="4155444" y="2157875"/>
                          <a:pt x="4161662" y="2294859"/>
                        </a:cubicBezTo>
                        <a:cubicBezTo>
                          <a:pt x="4167880" y="2431843"/>
                          <a:pt x="4130736" y="2718138"/>
                          <a:pt x="4161662" y="2930999"/>
                        </a:cubicBezTo>
                        <a:cubicBezTo>
                          <a:pt x="4192588" y="3143860"/>
                          <a:pt x="4160212" y="3219224"/>
                          <a:pt x="4161662" y="3400672"/>
                        </a:cubicBezTo>
                        <a:cubicBezTo>
                          <a:pt x="4163112" y="3582120"/>
                          <a:pt x="4094120" y="3802505"/>
                          <a:pt x="4161662" y="4161662"/>
                        </a:cubicBezTo>
                        <a:cubicBezTo>
                          <a:pt x="3921811" y="4166974"/>
                          <a:pt x="3722507" y="4142918"/>
                          <a:pt x="3567139" y="4161662"/>
                        </a:cubicBezTo>
                        <a:cubicBezTo>
                          <a:pt x="3411771" y="4180406"/>
                          <a:pt x="3120016" y="4136184"/>
                          <a:pt x="2972616" y="4161662"/>
                        </a:cubicBezTo>
                        <a:cubicBezTo>
                          <a:pt x="2825216" y="4187140"/>
                          <a:pt x="2543113" y="4110598"/>
                          <a:pt x="2294859" y="4161662"/>
                        </a:cubicBezTo>
                        <a:cubicBezTo>
                          <a:pt x="2046605" y="4212726"/>
                          <a:pt x="1981969" y="4133006"/>
                          <a:pt x="1700336" y="4161662"/>
                        </a:cubicBezTo>
                        <a:cubicBezTo>
                          <a:pt x="1418703" y="4190318"/>
                          <a:pt x="1354265" y="4106015"/>
                          <a:pt x="1230663" y="4161662"/>
                        </a:cubicBezTo>
                        <a:cubicBezTo>
                          <a:pt x="1107061" y="4217309"/>
                          <a:pt x="957609" y="4118690"/>
                          <a:pt x="719373" y="4161662"/>
                        </a:cubicBezTo>
                        <a:cubicBezTo>
                          <a:pt x="481137" y="4204634"/>
                          <a:pt x="167330" y="4156625"/>
                          <a:pt x="0" y="4161662"/>
                        </a:cubicBezTo>
                        <a:cubicBezTo>
                          <a:pt x="-65854" y="3896313"/>
                          <a:pt x="16740" y="3726990"/>
                          <a:pt x="0" y="3567139"/>
                        </a:cubicBezTo>
                        <a:cubicBezTo>
                          <a:pt x="-16740" y="3407288"/>
                          <a:pt x="21521" y="3243218"/>
                          <a:pt x="0" y="2972616"/>
                        </a:cubicBezTo>
                        <a:cubicBezTo>
                          <a:pt x="-21521" y="2702014"/>
                          <a:pt x="8046" y="2679564"/>
                          <a:pt x="0" y="2419709"/>
                        </a:cubicBezTo>
                        <a:cubicBezTo>
                          <a:pt x="-8046" y="2159854"/>
                          <a:pt x="4077" y="2143863"/>
                          <a:pt x="0" y="1950036"/>
                        </a:cubicBezTo>
                        <a:cubicBezTo>
                          <a:pt x="-4077" y="1756209"/>
                          <a:pt x="49112" y="1658208"/>
                          <a:pt x="0" y="1480363"/>
                        </a:cubicBezTo>
                        <a:cubicBezTo>
                          <a:pt x="-49112" y="1302518"/>
                          <a:pt x="59946" y="1077805"/>
                          <a:pt x="0" y="844223"/>
                        </a:cubicBezTo>
                        <a:cubicBezTo>
                          <a:pt x="-59946" y="610641"/>
                          <a:pt x="86630" y="40924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D23C796-558C-4894-E4F8-A0200F1534FA}"/>
              </a:ext>
            </a:extLst>
          </p:cNvPr>
          <p:cNvSpPr txBox="1">
            <a:spLocks/>
          </p:cNvSpPr>
          <p:nvPr/>
        </p:nvSpPr>
        <p:spPr>
          <a:xfrm>
            <a:off x="7137781" y="4338512"/>
            <a:ext cx="4782757" cy="965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b="1">
                <a:latin typeface="Noto Sans KR"/>
              </a:rPr>
              <a:t>정량적 분석 및 맞춤형 가이드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Noto Sans KR"/>
              </a:rPr>
              <a:t>단순 식이조절을 넘어</a:t>
            </a: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Noto Sans KR"/>
              </a:rPr>
              <a:t>, </a:t>
            </a: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Noto Sans KR"/>
              </a:rPr>
              <a:t>데이터 기반의 </a:t>
            </a:r>
            <a:r>
              <a:rPr lang="ko-KR" altLang="en-US" sz="1400" b="1">
                <a:latin typeface="Noto Sans KR"/>
              </a:rPr>
              <a:t>정량적 분석</a:t>
            </a: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Noto Sans KR"/>
              </a:rPr>
              <a:t>을 통한 개인 맞춤형 식습관 개선 가이드가 필요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F9FC355-108D-229C-8C47-754079D811C4}"/>
              </a:ext>
            </a:extLst>
          </p:cNvPr>
          <p:cNvSpPr txBox="1">
            <a:spLocks/>
          </p:cNvSpPr>
          <p:nvPr/>
        </p:nvSpPr>
        <p:spPr>
          <a:xfrm>
            <a:off x="7137781" y="2604670"/>
            <a:ext cx="4782757" cy="965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b="1">
                <a:latin typeface="Noto Sans KR"/>
              </a:rPr>
              <a:t>만성질환 위험 증가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Noto Sans KR"/>
              </a:rPr>
              <a:t>잘못된 식습관으로 인해 </a:t>
            </a:r>
            <a:r>
              <a:rPr lang="ko-KR" altLang="en-US" sz="1400" b="1">
                <a:latin typeface="Noto Sans KR"/>
              </a:rPr>
              <a:t>이상지질혈증</a:t>
            </a: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Noto Sans KR"/>
              </a:rPr>
              <a:t>으로 인한 만성질환 유병률 증가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5843F2E1-287C-59D7-B75A-AA5F67E08038}"/>
              </a:ext>
            </a:extLst>
          </p:cNvPr>
          <p:cNvSpPr txBox="1">
            <a:spLocks/>
          </p:cNvSpPr>
          <p:nvPr/>
        </p:nvSpPr>
        <p:spPr>
          <a:xfrm>
            <a:off x="1313242" y="4338512"/>
            <a:ext cx="4782757" cy="965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b="1">
                <a:latin typeface="Noto Sans KR"/>
              </a:rPr>
              <a:t>개인별 특성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Noto Sans KR"/>
              </a:rPr>
              <a:t>동일한 식단을 테스트트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그림 14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FB87C0F-DED0-CA81-9198-4B4F76549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2" y="4587050"/>
            <a:ext cx="468000" cy="468000"/>
          </a:xfrm>
          <a:prstGeom prst="rect">
            <a:avLst/>
          </a:prstGeom>
        </p:spPr>
      </p:pic>
      <p:pic>
        <p:nvPicPr>
          <p:cNvPr id="17" name="그림 16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D4F120A-9945-AF4B-0051-06D1126780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791" y="2871649"/>
            <a:ext cx="468000" cy="468000"/>
          </a:xfrm>
          <a:prstGeom prst="rect">
            <a:avLst/>
          </a:prstGeom>
        </p:spPr>
      </p:pic>
      <p:pic>
        <p:nvPicPr>
          <p:cNvPr id="19" name="그림 18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9F022F9-D8B2-B4C8-E89A-562037972B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791" y="4587050"/>
            <a:ext cx="4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85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5BA4F-DA62-4ACF-71F5-86330591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1" y="696848"/>
            <a:ext cx="2883105" cy="1325563"/>
          </a:xfrm>
        </p:spPr>
        <p:txBody>
          <a:bodyPr>
            <a:normAutofit/>
          </a:bodyPr>
          <a:lstStyle/>
          <a:p>
            <a:r>
              <a:rPr lang="ko-KR" altLang="en-US" sz="3200" b="1"/>
              <a:t>개발목표</a:t>
            </a:r>
            <a:br>
              <a:rPr lang="en-US" altLang="ko-KR" sz="6600" b="1"/>
            </a:br>
            <a:r>
              <a:rPr lang="en-US" altLang="ko-KR" sz="1400" b="0" i="0">
                <a:solidFill>
                  <a:srgbClr val="6B7280"/>
                </a:solidFill>
                <a:effectLst/>
                <a:latin typeface="Noto Sans KR"/>
              </a:rPr>
              <a:t>Development Objectives</a:t>
            </a:r>
            <a:endParaRPr lang="ko-KR" altLang="en-US" sz="14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0445D-6120-B7A6-8C93-5DFA85968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2" y="2024224"/>
            <a:ext cx="3379230" cy="6475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sz="1800" b="1" i="0">
                <a:effectLst/>
                <a:latin typeface="Noto Sans KR"/>
              </a:rPr>
              <a:t>영양소 섭취 빅데이터 구축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D23C796-558C-4894-E4F8-A0200F1534FA}"/>
              </a:ext>
            </a:extLst>
          </p:cNvPr>
          <p:cNvSpPr txBox="1">
            <a:spLocks/>
          </p:cNvSpPr>
          <p:nvPr/>
        </p:nvSpPr>
        <p:spPr>
          <a:xfrm>
            <a:off x="8160767" y="2038512"/>
            <a:ext cx="3551354" cy="633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800" b="1">
                <a:latin typeface="Noto Sans KR"/>
              </a:rPr>
              <a:t>맞춤형 식습관 가이드 서비스</a:t>
            </a:r>
            <a:endParaRPr lang="en-US" altLang="ko-KR" sz="1800" b="1">
              <a:latin typeface="Noto Sans KR"/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F9FC355-108D-229C-8C47-754079D811C4}"/>
              </a:ext>
            </a:extLst>
          </p:cNvPr>
          <p:cNvSpPr txBox="1">
            <a:spLocks/>
          </p:cNvSpPr>
          <p:nvPr/>
        </p:nvSpPr>
        <p:spPr>
          <a:xfrm>
            <a:off x="4317792" y="2038511"/>
            <a:ext cx="3663051" cy="87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800" b="1">
                <a:latin typeface="Noto Sans KR"/>
              </a:rPr>
              <a:t>복합 요인 상관관계 분석 </a:t>
            </a:r>
            <a:endParaRPr lang="en-US" altLang="ko-KR" sz="1800" b="1">
              <a:latin typeface="Noto Sans KR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800" b="1">
                <a:latin typeface="Noto Sans KR"/>
              </a:rPr>
              <a:t>이상지질혈증 위험도 예측 시스템</a:t>
            </a:r>
            <a:endParaRPr lang="en-US" altLang="ko-KR" sz="1800" b="1">
              <a:latin typeface="Noto Sans KR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3727F66-C5EA-DF8B-1736-E096078233F6}"/>
              </a:ext>
            </a:extLst>
          </p:cNvPr>
          <p:cNvCxnSpPr>
            <a:cxnSpLocks/>
          </p:cNvCxnSpPr>
          <p:nvPr/>
        </p:nvCxnSpPr>
        <p:spPr>
          <a:xfrm>
            <a:off x="4211156" y="1782283"/>
            <a:ext cx="0" cy="419338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DE88E11-80C2-C43A-22E5-D31874F8A854}"/>
              </a:ext>
            </a:extLst>
          </p:cNvPr>
          <p:cNvCxnSpPr>
            <a:cxnSpLocks/>
          </p:cNvCxnSpPr>
          <p:nvPr/>
        </p:nvCxnSpPr>
        <p:spPr>
          <a:xfrm>
            <a:off x="8049074" y="1782283"/>
            <a:ext cx="0" cy="419338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C88F9D6-72F0-D710-E313-2DB583FBFC85}"/>
              </a:ext>
            </a:extLst>
          </p:cNvPr>
          <p:cNvSpPr txBox="1"/>
          <p:nvPr/>
        </p:nvSpPr>
        <p:spPr>
          <a:xfrm>
            <a:off x="541043" y="2971710"/>
            <a:ext cx="3480440" cy="1322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탄수화물</a:t>
            </a:r>
            <a:r>
              <a:rPr lang="en-US" altLang="ko-KR" sz="1400">
                <a:solidFill>
                  <a:srgbClr val="6B7280"/>
                </a:solidFill>
                <a:latin typeface="Noto Sans KR"/>
              </a:rPr>
              <a:t>, </a:t>
            </a: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단백질</a:t>
            </a:r>
            <a:r>
              <a:rPr lang="en-US" altLang="ko-KR" sz="1400">
                <a:solidFill>
                  <a:srgbClr val="6B7280"/>
                </a:solidFill>
                <a:latin typeface="Noto Sans KR"/>
              </a:rPr>
              <a:t>, </a:t>
            </a: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지방</a:t>
            </a:r>
            <a:r>
              <a:rPr lang="en-US" altLang="ko-KR" sz="1400">
                <a:solidFill>
                  <a:srgbClr val="6B7280"/>
                </a:solidFill>
                <a:latin typeface="Noto Sans KR"/>
              </a:rPr>
              <a:t>, </a:t>
            </a: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당류</a:t>
            </a:r>
            <a:r>
              <a:rPr lang="en-US" altLang="ko-KR" sz="1400">
                <a:solidFill>
                  <a:srgbClr val="6B7280"/>
                </a:solidFill>
                <a:latin typeface="Noto Sans KR"/>
              </a:rPr>
              <a:t>, </a:t>
            </a: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나트륨 등 주요 영양소 섭취 패턴 정량화</a:t>
            </a:r>
            <a:br>
              <a:rPr lang="en-US" altLang="ko-KR" sz="1400">
                <a:solidFill>
                  <a:srgbClr val="6B7280"/>
                </a:solidFill>
                <a:latin typeface="Noto Sans KR"/>
              </a:rPr>
            </a:b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→ 영양 </a:t>
            </a:r>
            <a:r>
              <a:rPr lang="ko-KR" altLang="en-US" sz="1400" b="1">
                <a:latin typeface="Noto Sans KR"/>
              </a:rPr>
              <a:t>데이터베이스 구축</a:t>
            </a:r>
            <a:endParaRPr lang="en-US" altLang="ko-KR" sz="1400" b="1">
              <a:latin typeface="Noto Sans K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372C32-8F73-FAB9-E521-1E48EB1C7047}"/>
              </a:ext>
            </a:extLst>
          </p:cNvPr>
          <p:cNvSpPr txBox="1"/>
          <p:nvPr/>
        </p:nvSpPr>
        <p:spPr>
          <a:xfrm>
            <a:off x="4357668" y="2971710"/>
            <a:ext cx="3480440" cy="261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영양소 데이터와 생활습관</a:t>
            </a:r>
            <a:r>
              <a:rPr lang="en-US" altLang="ko-KR" sz="1400">
                <a:solidFill>
                  <a:srgbClr val="6B7280"/>
                </a:solidFill>
                <a:latin typeface="Noto Sans KR"/>
              </a:rPr>
              <a:t>(</a:t>
            </a: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흡연</a:t>
            </a:r>
            <a:r>
              <a:rPr lang="en-US" altLang="ko-KR" sz="1400">
                <a:solidFill>
                  <a:srgbClr val="6B7280"/>
                </a:solidFill>
                <a:latin typeface="Noto Sans KR"/>
              </a:rPr>
              <a:t>·</a:t>
            </a: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운동 등</a:t>
            </a:r>
            <a:r>
              <a:rPr lang="en-US" altLang="ko-KR" sz="1400">
                <a:solidFill>
                  <a:srgbClr val="6B7280"/>
                </a:solidFill>
                <a:latin typeface="Noto Sans KR"/>
              </a:rPr>
              <a:t>), </a:t>
            </a: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사회경제적 요인</a:t>
            </a:r>
            <a:r>
              <a:rPr lang="en-US" altLang="ko-KR" sz="1400">
                <a:solidFill>
                  <a:srgbClr val="6B7280"/>
                </a:solidFill>
                <a:latin typeface="Noto Sans KR"/>
              </a:rPr>
              <a:t>(</a:t>
            </a: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소득</a:t>
            </a:r>
            <a:r>
              <a:rPr lang="en-US" altLang="ko-KR" sz="1400">
                <a:solidFill>
                  <a:srgbClr val="6B7280"/>
                </a:solidFill>
                <a:latin typeface="Noto Sans KR"/>
              </a:rPr>
              <a:t>·</a:t>
            </a: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교육 수준</a:t>
            </a:r>
            <a:r>
              <a:rPr lang="en-US" altLang="ko-KR" sz="1400">
                <a:solidFill>
                  <a:srgbClr val="6B7280"/>
                </a:solidFill>
                <a:latin typeface="Noto Sans KR"/>
              </a:rPr>
              <a:t>)</a:t>
            </a: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을 통합 분석하여 건강에 영향을 주는 상관관계 도출</a:t>
            </a:r>
            <a:endParaRPr lang="en-US" altLang="ko-KR" sz="1400">
              <a:solidFill>
                <a:srgbClr val="6B7280"/>
              </a:solidFill>
              <a:latin typeface="Noto Sans KR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현재 영양 상태에 따른 이상지질혈증 발병 위험도 </a:t>
            </a:r>
            <a:r>
              <a:rPr lang="ko-KR" altLang="en-US" sz="1400" u="sng">
                <a:solidFill>
                  <a:srgbClr val="6B7280"/>
                </a:solidFill>
                <a:latin typeface="Noto Sans KR"/>
              </a:rPr>
              <a:t>예</a:t>
            </a: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측 모델 개발</a:t>
            </a:r>
            <a:endParaRPr lang="en-US" altLang="ko-KR" sz="1400">
              <a:solidFill>
                <a:srgbClr val="6B7280"/>
              </a:solidFill>
              <a:latin typeface="Noto Sans K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7D0424-A27E-A4C2-287C-775C35320942}"/>
              </a:ext>
            </a:extLst>
          </p:cNvPr>
          <p:cNvSpPr txBox="1"/>
          <p:nvPr/>
        </p:nvSpPr>
        <p:spPr>
          <a:xfrm>
            <a:off x="8260041" y="2971710"/>
            <a:ext cx="3480440" cy="1322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연령과 성별에 따른 신체 특성을 고려하여 개선 가능한 최적의 식습관 및 </a:t>
            </a:r>
            <a:r>
              <a:rPr lang="ko-KR" altLang="en-US" sz="1400" b="1">
                <a:latin typeface="Noto Sans KR"/>
              </a:rPr>
              <a:t>영양 섭취 가이드라인 </a:t>
            </a:r>
            <a:r>
              <a:rPr lang="ko-KR" altLang="en-US" sz="1400">
                <a:solidFill>
                  <a:srgbClr val="6B7280"/>
                </a:solidFill>
                <a:latin typeface="Noto Sans KR"/>
              </a:rPr>
              <a:t>제공</a:t>
            </a:r>
            <a:endParaRPr lang="en-US" altLang="ko-KR" sz="1400">
              <a:solidFill>
                <a:srgbClr val="6B7280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376676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CC888A9-C915-7772-629B-7C6C2B9D9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1" y="696848"/>
            <a:ext cx="2883105" cy="1325563"/>
          </a:xfrm>
        </p:spPr>
        <p:txBody>
          <a:bodyPr>
            <a:normAutofit/>
          </a:bodyPr>
          <a:lstStyle/>
          <a:p>
            <a:r>
              <a:rPr lang="ko-KR" altLang="en-US" sz="3200" b="1"/>
              <a:t>개발 스케줄</a:t>
            </a:r>
            <a:br>
              <a:rPr lang="en-US" altLang="ko-KR" sz="6600" b="1"/>
            </a:br>
            <a:r>
              <a:rPr lang="en-US" altLang="ko-KR" sz="1400" b="0" i="0">
                <a:solidFill>
                  <a:srgbClr val="6B7280"/>
                </a:solidFill>
                <a:effectLst/>
                <a:latin typeface="Noto Sans KR"/>
              </a:rPr>
              <a:t>Development Schedule</a:t>
            </a:r>
            <a:endParaRPr lang="ko-KR" altLang="en-US" sz="1400" b="1"/>
          </a:p>
        </p:txBody>
      </p:sp>
      <p:pic>
        <p:nvPicPr>
          <p:cNvPr id="6" name="그림 5" descr="텍스트, 스크린샷, 라인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805C950-3065-39BC-6D83-250081D84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25" y="2022411"/>
            <a:ext cx="11549749" cy="349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03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54D5AEA-F684-B1EE-1ECC-E0C4856C847B}"/>
              </a:ext>
            </a:extLst>
          </p:cNvPr>
          <p:cNvSpPr/>
          <p:nvPr/>
        </p:nvSpPr>
        <p:spPr>
          <a:xfrm>
            <a:off x="4352925" y="492919"/>
            <a:ext cx="3486150" cy="928687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메인화면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9E12F1E-69C5-1AA7-32F4-769722E17D6C}"/>
              </a:ext>
            </a:extLst>
          </p:cNvPr>
          <p:cNvSpPr/>
          <p:nvPr/>
        </p:nvSpPr>
        <p:spPr>
          <a:xfrm>
            <a:off x="1071561" y="2071685"/>
            <a:ext cx="4343400" cy="4021931"/>
          </a:xfrm>
          <a:prstGeom prst="round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8926075-C96C-7699-70AE-99C8072AFF72}"/>
              </a:ext>
            </a:extLst>
          </p:cNvPr>
          <p:cNvSpPr/>
          <p:nvPr/>
        </p:nvSpPr>
        <p:spPr>
          <a:xfrm>
            <a:off x="6777040" y="2071686"/>
            <a:ext cx="4343400" cy="4021931"/>
          </a:xfrm>
          <a:prstGeom prst="round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B46771-DA3E-FF0F-FB97-43CEF4E9B016}"/>
              </a:ext>
            </a:extLst>
          </p:cNvPr>
          <p:cNvSpPr txBox="1"/>
          <p:nvPr/>
        </p:nvSpPr>
        <p:spPr>
          <a:xfrm>
            <a:off x="2180628" y="2787134"/>
            <a:ext cx="2125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이상지질혈증 예측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3FF0E5-4599-7B45-EA8D-BD8E37AB5B07}"/>
              </a:ext>
            </a:extLst>
          </p:cNvPr>
          <p:cNvSpPr txBox="1"/>
          <p:nvPr/>
        </p:nvSpPr>
        <p:spPr>
          <a:xfrm>
            <a:off x="7621112" y="2762309"/>
            <a:ext cx="2655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/>
              <a:t>맞춤 식습관 개선 가이드</a:t>
            </a:r>
          </a:p>
          <a:p>
            <a:endParaRPr lang="ko-KR" altLang="en-US"/>
          </a:p>
        </p:txBody>
      </p:sp>
      <p:pic>
        <p:nvPicPr>
          <p:cNvPr id="19" name="그림 18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9F69A32-4C7D-D2B0-4B46-E9271635B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588739" y="4417441"/>
            <a:ext cx="720000" cy="720000"/>
          </a:xfrm>
          <a:prstGeom prst="rect">
            <a:avLst/>
          </a:prstGeom>
        </p:spPr>
      </p:pic>
      <p:pic>
        <p:nvPicPr>
          <p:cNvPr id="20" name="그림 19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44DA6F9-58FC-9741-E9F2-DEA6DE2F0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883261" y="4417441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32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54D5AEA-F684-B1EE-1ECC-E0C4856C847B}"/>
              </a:ext>
            </a:extLst>
          </p:cNvPr>
          <p:cNvSpPr/>
          <p:nvPr/>
        </p:nvSpPr>
        <p:spPr>
          <a:xfrm>
            <a:off x="1142660" y="551831"/>
            <a:ext cx="3486150" cy="1278731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이상지질혈증 예측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9E12F1E-69C5-1AA7-32F4-769722E17D6C}"/>
              </a:ext>
            </a:extLst>
          </p:cNvPr>
          <p:cNvSpPr/>
          <p:nvPr/>
        </p:nvSpPr>
        <p:spPr>
          <a:xfrm>
            <a:off x="1142660" y="2057399"/>
            <a:ext cx="3486150" cy="3793334"/>
          </a:xfrm>
          <a:prstGeom prst="roundRect">
            <a:avLst/>
          </a:prstGeom>
          <a:ln w="31750"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최근 식사 메뉴 </a:t>
            </a:r>
            <a:r>
              <a:rPr lang="en-US" altLang="ko-KR" sz="1600"/>
              <a:t>: </a:t>
            </a:r>
            <a:r>
              <a:rPr lang="ko-KR" altLang="en-US" sz="1600"/>
              <a:t>빅맥</a:t>
            </a:r>
            <a:endParaRPr lang="en-US" altLang="ko-KR" sz="1600"/>
          </a:p>
          <a:p>
            <a:pPr algn="ctr"/>
            <a:r>
              <a:rPr lang="en-US" altLang="ko-KR" sz="1600"/>
              <a:t>========</a:t>
            </a:r>
            <a:r>
              <a:rPr lang="ko-KR" altLang="en-US" sz="1600"/>
              <a:t>영양성분</a:t>
            </a:r>
            <a:r>
              <a:rPr lang="en-US" altLang="ko-KR" sz="1600"/>
              <a:t>========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600"/>
              <a:t>열량</a:t>
            </a:r>
            <a:r>
              <a:rPr lang="en-US" altLang="ko-KR" sz="1600"/>
              <a:t>			582kcal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600"/>
              <a:t>포화지방</a:t>
            </a:r>
            <a:r>
              <a:rPr lang="en-US" altLang="ko-KR" sz="1600"/>
              <a:t>		11g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600"/>
              <a:t>당</a:t>
            </a:r>
            <a:r>
              <a:rPr lang="en-US" altLang="ko-KR" sz="1600"/>
              <a:t>			8g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600"/>
              <a:t>단백질</a:t>
            </a:r>
            <a:r>
              <a:rPr lang="en-US" altLang="ko-KR" sz="1600"/>
              <a:t>			27g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600"/>
              <a:t>나트륨</a:t>
            </a:r>
            <a:r>
              <a:rPr lang="en-US" altLang="ko-KR" sz="1600"/>
              <a:t>			902mg</a:t>
            </a:r>
          </a:p>
          <a:p>
            <a:pPr algn="just"/>
            <a:endParaRPr lang="ko-KR" altLang="en-US" sz="1600"/>
          </a:p>
        </p:txBody>
      </p:sp>
      <p:pic>
        <p:nvPicPr>
          <p:cNvPr id="3" name="그림 2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D59E9FC-A45D-48C9-6125-63D0EB584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824" y="741197"/>
            <a:ext cx="900000" cy="900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BFB0F93-F2DE-6FA7-5833-83DBB507C8D2}"/>
              </a:ext>
            </a:extLst>
          </p:cNvPr>
          <p:cNvSpPr/>
          <p:nvPr/>
        </p:nvSpPr>
        <p:spPr>
          <a:xfrm>
            <a:off x="5836444" y="551830"/>
            <a:ext cx="3771900" cy="12787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이상지질혈증 위험도 </a:t>
            </a:r>
            <a:r>
              <a:rPr lang="en-US" altLang="ko-KR"/>
              <a:t>: 68%</a:t>
            </a:r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CA74EE7-A68D-74F2-D2F1-248FE23F2E25}"/>
              </a:ext>
            </a:extLst>
          </p:cNvPr>
          <p:cNvSpPr/>
          <p:nvPr/>
        </p:nvSpPr>
        <p:spPr>
          <a:xfrm>
            <a:off x="5672138" y="2214563"/>
            <a:ext cx="5136356" cy="1371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최근 섭취한 음식</a:t>
            </a:r>
            <a:endParaRPr lang="en-US" altLang="ko-KR"/>
          </a:p>
          <a:p>
            <a:pPr algn="ctr"/>
            <a:endParaRPr lang="en-US" altLang="ko-KR"/>
          </a:p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CB8238-DBF9-888B-0708-357583643553}"/>
              </a:ext>
            </a:extLst>
          </p:cNvPr>
          <p:cNvSpPr/>
          <p:nvPr/>
        </p:nvSpPr>
        <p:spPr>
          <a:xfrm>
            <a:off x="6029325" y="2993230"/>
            <a:ext cx="4500563" cy="435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/>
              <a:t>__</a:t>
            </a:r>
            <a:endParaRPr lang="ko-KR" altLang="en-US"/>
          </a:p>
        </p:txBody>
      </p:sp>
      <p:pic>
        <p:nvPicPr>
          <p:cNvPr id="14" name="그림 13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BDB247F-9ACD-BE77-A496-91958AEEE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344" y="4364830"/>
            <a:ext cx="720000" cy="720000"/>
          </a:xfrm>
          <a:prstGeom prst="rect">
            <a:avLst/>
          </a:prstGeom>
        </p:spPr>
      </p:pic>
      <p:pic>
        <p:nvPicPr>
          <p:cNvPr id="20" name="그림 19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385672D-6CB9-B405-A10F-7E49487951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577" y="441883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15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B1CE314-FC37-31B7-C567-E31311784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824" y="741197"/>
            <a:ext cx="900000" cy="900000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54D5AEA-F684-B1EE-1ECC-E0C4856C847B}"/>
              </a:ext>
            </a:extLst>
          </p:cNvPr>
          <p:cNvSpPr/>
          <p:nvPr/>
        </p:nvSpPr>
        <p:spPr>
          <a:xfrm>
            <a:off x="4352925" y="585366"/>
            <a:ext cx="3486150" cy="1278731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+mj-ea"/>
                <a:ea typeface="+mj-ea"/>
              </a:rPr>
              <a:t>맞춤 식습관 개선 가이드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CA74EE7-A68D-74F2-D2F1-248FE23F2E25}"/>
              </a:ext>
            </a:extLst>
          </p:cNvPr>
          <p:cNvSpPr/>
          <p:nvPr/>
        </p:nvSpPr>
        <p:spPr>
          <a:xfrm>
            <a:off x="5450681" y="2214561"/>
            <a:ext cx="5807869" cy="400764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678077-69F8-BC8B-32BD-58E656A35492}"/>
              </a:ext>
            </a:extLst>
          </p:cNvPr>
          <p:cNvSpPr/>
          <p:nvPr/>
        </p:nvSpPr>
        <p:spPr>
          <a:xfrm>
            <a:off x="933450" y="2214561"/>
            <a:ext cx="3938588" cy="40076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/>
              <a:t>Test</a:t>
            </a:r>
            <a:r>
              <a:rPr lang="ko-KR" altLang="en-US"/>
              <a:t>님의 영양 상태는</a:t>
            </a:r>
            <a:endParaRPr lang="en-US" altLang="ko-KR"/>
          </a:p>
          <a:p>
            <a:pPr algn="ctr"/>
            <a:r>
              <a:rPr lang="ko-KR" altLang="en-US" sz="2800" b="1" u="sng"/>
              <a:t>저위험</a:t>
            </a:r>
            <a:r>
              <a:rPr lang="ko-KR" altLang="en-US"/>
              <a:t> 입니다</a:t>
            </a:r>
            <a:r>
              <a:rPr lang="en-US" altLang="ko-KR"/>
              <a:t>.</a:t>
            </a:r>
          </a:p>
          <a:p>
            <a:pPr algn="ctr"/>
            <a:r>
              <a:rPr lang="en-US" altLang="ko-KR"/>
              <a:t>=========================</a:t>
            </a:r>
          </a:p>
          <a:p>
            <a:pPr algn="ctr">
              <a:lnSpc>
                <a:spcPct val="150000"/>
              </a:lnSpc>
            </a:pPr>
            <a:r>
              <a:rPr lang="ko-KR" altLang="en-US"/>
              <a:t>적정 수치보다 조금 높습니다</a:t>
            </a:r>
            <a:r>
              <a:rPr lang="en-US" altLang="ko-KR"/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/>
              <a:t>일시적일 수 있지만 지속되는 경우 위험도가 높아질 수 있습니다</a:t>
            </a:r>
            <a:r>
              <a:rPr lang="en-US" altLang="ko-KR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CAA89E-C9F2-E3F5-4823-24C82D8AF025}"/>
              </a:ext>
            </a:extLst>
          </p:cNvPr>
          <p:cNvSpPr txBox="1"/>
          <p:nvPr/>
        </p:nvSpPr>
        <p:spPr>
          <a:xfrm>
            <a:off x="5913237" y="2800350"/>
            <a:ext cx="4882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건강습관 개선 가이드</a:t>
            </a:r>
            <a:endParaRPr lang="en-US" altLang="ko-K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03A818-D813-EC8F-12AF-798B038C2B06}"/>
              </a:ext>
            </a:extLst>
          </p:cNvPr>
          <p:cNvSpPr txBox="1"/>
          <p:nvPr/>
        </p:nvSpPr>
        <p:spPr>
          <a:xfrm>
            <a:off x="5754289" y="3429000"/>
            <a:ext cx="2600325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음식</a:t>
            </a:r>
            <a:endParaRPr lang="en-US" altLang="ko-KR"/>
          </a:p>
          <a:p>
            <a:pPr algn="ctr"/>
            <a:endParaRPr lang="en-US" altLang="ko-KR"/>
          </a:p>
          <a:p>
            <a:r>
              <a:rPr lang="ko-KR" altLang="en-US"/>
              <a:t>현재 나트륨과 지방이 많은 식단이 유지되고 있습니다</a:t>
            </a:r>
            <a:r>
              <a:rPr lang="en-US" altLang="ko-KR"/>
              <a:t>.</a:t>
            </a:r>
          </a:p>
          <a:p>
            <a:r>
              <a:rPr lang="ko-KR" altLang="en-US"/>
              <a:t>유제품과 채소류 섭취량 증가를 추천합니다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CECA87-BC08-61DD-4EBC-07ACA1CD644B}"/>
              </a:ext>
            </a:extLst>
          </p:cNvPr>
          <p:cNvSpPr txBox="1"/>
          <p:nvPr/>
        </p:nvSpPr>
        <p:spPr>
          <a:xfrm>
            <a:off x="8354614" y="3429000"/>
            <a:ext cx="2600325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운동</a:t>
            </a:r>
            <a:endParaRPr lang="en-US" altLang="ko-KR"/>
          </a:p>
          <a:p>
            <a:pPr algn="ctr"/>
            <a:endParaRPr lang="en-US" altLang="ko-KR"/>
          </a:p>
          <a:p>
            <a:r>
              <a:rPr lang="ko-KR" altLang="en-US"/>
              <a:t>활동량이 적어 골격근량 저하와 체지방 증가가 우려됩니다</a:t>
            </a:r>
            <a:r>
              <a:rPr lang="en-US" altLang="ko-KR"/>
              <a:t>. </a:t>
            </a:r>
            <a:r>
              <a:rPr lang="ko-KR" altLang="en-US"/>
              <a:t>하루 </a:t>
            </a:r>
            <a:r>
              <a:rPr lang="en-US" altLang="ko-KR"/>
              <a:t>30</a:t>
            </a:r>
            <a:r>
              <a:rPr lang="ko-KR" altLang="en-US"/>
              <a:t>분 내외의 가벼운 유산소와 일주일에 </a:t>
            </a:r>
            <a:r>
              <a:rPr lang="en-US" altLang="ko-KR"/>
              <a:t>3</a:t>
            </a:r>
            <a:r>
              <a:rPr lang="ko-KR" altLang="en-US"/>
              <a:t>번 근력운동을 추천합니다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692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429</TotalTime>
  <Words>298</Words>
  <Application>Microsoft Office PowerPoint</Application>
  <PresentationFormat>와이드스크린</PresentationFormat>
  <Paragraphs>51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Noto Sans KR</vt:lpstr>
      <vt:lpstr>맑은 고딕</vt:lpstr>
      <vt:lpstr>Aptos</vt:lpstr>
      <vt:lpstr>Aptos Display</vt:lpstr>
      <vt:lpstr>Arial</vt:lpstr>
      <vt:lpstr>Office 테마</vt:lpstr>
      <vt:lpstr>영양소 섭취 패턴 기반 이상지질혈증 위험도 예측 및 맞춤형 식습관 개선 가이드 모델</vt:lpstr>
      <vt:lpstr>기획의도 Background &amp; Purpose</vt:lpstr>
      <vt:lpstr>개발목표 Development Objectives</vt:lpstr>
      <vt:lpstr>개발 스케줄 Development Schedule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22</cp:revision>
  <dcterms:created xsi:type="dcterms:W3CDTF">2026-03-13T06:49:36Z</dcterms:created>
  <dcterms:modified xsi:type="dcterms:W3CDTF">2026-03-18T06:49:26Z</dcterms:modified>
</cp:coreProperties>
</file>