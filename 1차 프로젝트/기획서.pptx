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2"/>
  </p:notesMasterIdLst>
  <p:sldIdLst>
    <p:sldId id="256" r:id="rId2"/>
    <p:sldId id="261" r:id="rId3"/>
    <p:sldId id="271" r:id="rId4"/>
    <p:sldId id="275" r:id="rId5"/>
    <p:sldId id="274" r:id="rId6"/>
    <p:sldId id="270" r:id="rId7"/>
    <p:sldId id="259" r:id="rId8"/>
    <p:sldId id="267" r:id="rId9"/>
    <p:sldId id="272" r:id="rId10"/>
    <p:sldId id="273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제목" id="{07626288-CB30-4427-ADE0-ADF0697BF9D9}">
          <p14:sldIdLst>
            <p14:sldId id="256"/>
          </p14:sldIdLst>
        </p14:section>
        <p14:section name="기획의도" id="{5776D462-103A-4A94-B329-79D7A809B440}">
          <p14:sldIdLst>
            <p14:sldId id="261"/>
            <p14:sldId id="271"/>
            <p14:sldId id="275"/>
            <p14:sldId id="274"/>
          </p14:sldIdLst>
        </p14:section>
        <p14:section name="개발목표" id="{68215A09-B176-47FD-B779-768E16B11801}">
          <p14:sldIdLst>
            <p14:sldId id="270"/>
          </p14:sldIdLst>
        </p14:section>
        <p14:section name="개발 스케줄" id="{3B2639DA-94DE-47E4-BC35-687CBCEDE099}">
          <p14:sldIdLst>
            <p14:sldId id="259"/>
          </p14:sldIdLst>
        </p14:section>
        <p14:section name="화면설계서" id="{E4806D9E-3AD0-4089-A3C6-C15EABD6A583}">
          <p14:sldIdLst>
            <p14:sldId id="267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5143AD7-E749-5E1E-371D-A585C0C727CD}" name="User" initials="Own" userId="User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51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9A2857-52EE-4322-B040-F7AE6E3FFBF0}" type="datetimeFigureOut">
              <a:rPr lang="ko-KR" altLang="en-US" smtClean="0"/>
              <a:t>03-20(Fri)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E3F50E-80B0-4F85-9BA7-8539A8FB3F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9232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03-20(Fri)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4726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03-20(Fri)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841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03-20(Fri)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50134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03-20(Fri)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47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03-20(Fri)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499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03-20(Fri)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95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03-20(Fri)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929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03-20(Fri)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2061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03-20(Fri)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736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03-20(Fri)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741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03-20(Fri)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7939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1FF700-8BFB-4C30-A2B6-F509E51DF773}" type="datetimeFigureOut">
              <a:rPr lang="ko-KR" altLang="en-US" smtClean="0"/>
              <a:t>03-20(Fri)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5097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1441BF8-BC31-A14F-06C9-DCC0D1B6E63B}"/>
              </a:ext>
            </a:extLst>
          </p:cNvPr>
          <p:cNvSpPr>
            <a:spLocks/>
          </p:cNvSpPr>
          <p:nvPr/>
        </p:nvSpPr>
        <p:spPr>
          <a:xfrm>
            <a:off x="3048000" y="-11750"/>
            <a:ext cx="6096000" cy="686975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8F91D04-0044-5B44-D76A-127E2B5A9B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24039" y="1462917"/>
            <a:ext cx="4943918" cy="1277604"/>
          </a:xfrm>
        </p:spPr>
        <p:txBody>
          <a:bodyPr>
            <a:noAutofit/>
          </a:bodyPr>
          <a:lstStyle/>
          <a:p>
            <a:pPr algn="ctr" latinLnBrk="0">
              <a:lnSpc>
                <a:spcPct val="100000"/>
              </a:lnSpc>
            </a:pPr>
            <a: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  <a:t>영양소 섭취 기반 </a:t>
            </a:r>
            <a:r>
              <a:rPr lang="ko-KR" altLang="en-US" sz="2000" b="1" i="0" dirty="0" err="1">
                <a:solidFill>
                  <a:schemeClr val="bg1"/>
                </a:solidFill>
                <a:effectLst/>
                <a:latin typeface="Noto Sans KR"/>
              </a:rPr>
              <a:t>고콜레스테롤혈증</a:t>
            </a:r>
            <a: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  <a:t> 위험도 예측 및</a:t>
            </a:r>
            <a:b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</a:br>
            <a: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  <a:t>맞춤형 식습관 개선 가이드 모델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CA0800-7F4B-02AB-743F-7001CA25EE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70514" y="5492792"/>
            <a:ext cx="1050968" cy="1365208"/>
          </a:xfrm>
        </p:spPr>
        <p:txBody>
          <a:bodyPr>
            <a:normAutofit/>
          </a:bodyPr>
          <a:lstStyle/>
          <a:p>
            <a:r>
              <a:rPr lang="en-US" altLang="ko-KR" sz="1200">
                <a:solidFill>
                  <a:schemeClr val="bg1">
                    <a:lumMod val="85000"/>
                  </a:schemeClr>
                </a:solidFill>
              </a:rPr>
              <a:t>Presenter</a:t>
            </a:r>
          </a:p>
          <a:p>
            <a:r>
              <a:rPr lang="ko-KR" altLang="en-US" sz="1600" b="1">
                <a:solidFill>
                  <a:schemeClr val="bg1"/>
                </a:solidFill>
              </a:rPr>
              <a:t>이 승 찬</a:t>
            </a:r>
            <a:endParaRPr lang="en-US" altLang="ko-KR" sz="1600" b="1">
              <a:solidFill>
                <a:schemeClr val="bg1"/>
              </a:solidFill>
            </a:endParaRPr>
          </a:p>
          <a:p>
            <a:endParaRPr lang="en-US" altLang="ko-KR" sz="1200" b="1">
              <a:solidFill>
                <a:schemeClr val="bg1"/>
              </a:solidFill>
            </a:endParaRPr>
          </a:p>
          <a:p>
            <a:r>
              <a:rPr lang="en-US" altLang="ko-KR" sz="1200" b="1">
                <a:solidFill>
                  <a:schemeClr val="bg1">
                    <a:lumMod val="85000"/>
                  </a:schemeClr>
                </a:solidFill>
              </a:rPr>
              <a:t>2026.03.17</a:t>
            </a:r>
            <a:endParaRPr lang="ko-KR" altLang="en-US" sz="1200" b="1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1865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2319204"/>
            <a:ext cx="4428000" cy="1180396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14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외식 및 가공식품 섭취로</a:t>
            </a:r>
            <a:r>
              <a:rPr lang="ko-KR" altLang="en-US" sz="14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 </a:t>
            </a:r>
            <a:r>
              <a:rPr lang="ko-KR" altLang="en-US" sz="1600" b="1" i="0" dirty="0">
                <a:effectLst/>
                <a:latin typeface="Noto Sans KR"/>
              </a:rPr>
              <a:t>지방</a:t>
            </a:r>
            <a:r>
              <a:rPr lang="en-US" altLang="ko-KR" sz="1600" b="1" i="0" dirty="0">
                <a:effectLst/>
                <a:latin typeface="Noto Sans KR"/>
              </a:rPr>
              <a:t>, </a:t>
            </a:r>
            <a:r>
              <a:rPr lang="ko-KR" altLang="en-US" sz="1600" b="1" i="0" dirty="0">
                <a:effectLst/>
                <a:latin typeface="Noto Sans KR"/>
              </a:rPr>
              <a:t>당류</a:t>
            </a:r>
            <a:r>
              <a:rPr lang="en-US" altLang="ko-KR" sz="1600" b="1" i="0" dirty="0">
                <a:effectLst/>
                <a:latin typeface="Noto Sans KR"/>
              </a:rPr>
              <a:t>, </a:t>
            </a:r>
            <a:r>
              <a:rPr lang="ko-KR" altLang="en-US" sz="1600" b="1" i="0" dirty="0">
                <a:effectLst/>
                <a:latin typeface="Noto Sans KR"/>
              </a:rPr>
              <a:t>나트륨의 과잉 섭취</a:t>
            </a:r>
            <a:r>
              <a:rPr lang="ko-KR" altLang="en-US" sz="140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가</a:t>
            </a:r>
            <a:r>
              <a:rPr lang="ko-KR" altLang="en-US" sz="14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 </a:t>
            </a:r>
            <a:r>
              <a:rPr lang="ko-KR" altLang="en-US" sz="14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일상화되어 심각한 영양 불균형 초래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304800" y="4638409"/>
            <a:ext cx="4428000" cy="1180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Noto Sans KR"/>
              </a:rPr>
              <a:t>잘못된 식습관으로 인해 </a:t>
            </a:r>
            <a:r>
              <a:rPr lang="ko-KR" altLang="en-US" sz="1400" b="1" dirty="0" err="1">
                <a:latin typeface="Noto Sans KR"/>
              </a:rPr>
              <a:t>고콜레스테롤혈증</a:t>
            </a: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Noto Sans KR"/>
              </a:rPr>
              <a:t> 만성질환 유병률 증가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3" y="234292"/>
            <a:ext cx="2009318" cy="946104"/>
          </a:xfrm>
        </p:spPr>
        <p:txBody>
          <a:bodyPr>
            <a:norm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기획의도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9CA5E893-BE61-1B2C-5561-000A6EBB97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320800" y="3854315"/>
            <a:ext cx="396000" cy="3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ED8B41D-99E1-876D-2BFC-742037A8D708}"/>
              </a:ext>
            </a:extLst>
          </p:cNvPr>
          <p:cNvCxnSpPr>
            <a:cxnSpLocks/>
          </p:cNvCxnSpPr>
          <p:nvPr/>
        </p:nvCxnSpPr>
        <p:spPr>
          <a:xfrm>
            <a:off x="4874400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84A4700A-5957-3AE6-6B83-8230CE3053BF}"/>
              </a:ext>
            </a:extLst>
          </p:cNvPr>
          <p:cNvSpPr txBox="1"/>
          <p:nvPr/>
        </p:nvSpPr>
        <p:spPr>
          <a:xfrm>
            <a:off x="5364480" y="1741714"/>
            <a:ext cx="67088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80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기획 의도 근거자료 영역 확대하고 </a:t>
            </a:r>
            <a:r>
              <a:rPr lang="en-US" altLang="ko-KR" sz="180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4</a:t>
            </a:r>
            <a:r>
              <a:rPr lang="ko-KR" altLang="en-US" sz="180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가지 흐름으로 진행</a:t>
            </a:r>
            <a:br>
              <a:rPr lang="ko-KR" altLang="en-US" sz="180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</a:br>
            <a:r>
              <a:rPr lang="ko-KR" altLang="en-US" sz="180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외식</a:t>
            </a:r>
            <a:r>
              <a:rPr lang="en-US" altLang="ko-KR" sz="180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, </a:t>
            </a:r>
            <a:r>
              <a:rPr lang="ko-KR" altLang="en-US" sz="180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가공식품 섭취 증가 </a:t>
            </a:r>
            <a:r>
              <a:rPr lang="en-US" altLang="ko-KR" sz="180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- </a:t>
            </a:r>
            <a:r>
              <a:rPr lang="ko-KR" altLang="en-US" sz="180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지방</a:t>
            </a:r>
            <a:r>
              <a:rPr lang="en-US" altLang="ko-KR" sz="180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, </a:t>
            </a:r>
            <a:r>
              <a:rPr lang="ko-KR" altLang="en-US" sz="180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나트륨</a:t>
            </a:r>
            <a:r>
              <a:rPr lang="en-US" altLang="ko-KR" sz="180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, </a:t>
            </a:r>
            <a:r>
              <a:rPr lang="ko-KR" altLang="en-US" sz="180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당류 과잉섭취 일상화</a:t>
            </a:r>
            <a:endParaRPr lang="en-US" altLang="ko-KR" sz="180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ko-KR" altLang="en-US" sz="1800" dirty="0">
                <a:effectLst/>
                <a:latin typeface="Arial" panose="020B0604020202020204" pitchFamily="34" charset="0"/>
              </a:rPr>
              <a:t>잘못된 식습관으로 만성질환 유병률 증가 </a:t>
            </a:r>
            <a:endParaRPr lang="en-US" altLang="ko-KR" sz="1800" dirty="0">
              <a:effectLst/>
              <a:latin typeface="Arial" panose="020B0604020202020204" pitchFamily="34" charset="0"/>
            </a:endParaRPr>
          </a:p>
          <a:p>
            <a:r>
              <a:rPr lang="en-US" altLang="ko-KR" sz="1800" dirty="0">
                <a:effectLst/>
                <a:latin typeface="Arial" panose="020B0604020202020204" pitchFamily="34" charset="0"/>
              </a:rPr>
              <a:t>– </a:t>
            </a:r>
            <a:r>
              <a:rPr lang="ko-KR" altLang="en-US" sz="1800" dirty="0">
                <a:effectLst/>
                <a:latin typeface="Arial" panose="020B0604020202020204" pitchFamily="34" charset="0"/>
              </a:rPr>
              <a:t>건강검진 주기가 길어서 제때 체크 못함 </a:t>
            </a:r>
            <a:r>
              <a:rPr lang="en-US" altLang="ko-KR" sz="1800" dirty="0">
                <a:effectLst/>
                <a:latin typeface="Arial" panose="020B0604020202020204" pitchFamily="34" charset="0"/>
              </a:rPr>
              <a:t>– </a:t>
            </a:r>
            <a:r>
              <a:rPr lang="ko-KR" altLang="en-US" sz="1800" dirty="0">
                <a:effectLst/>
                <a:latin typeface="Arial" panose="020B0604020202020204" pitchFamily="34" charset="0"/>
              </a:rPr>
              <a:t>개인별 맞춤 가이드</a:t>
            </a:r>
          </a:p>
        </p:txBody>
      </p:sp>
    </p:spTree>
    <p:extLst>
      <p:ext uri="{BB962C8B-B14F-4D97-AF65-F5344CB8AC3E}">
        <p14:creationId xmlns:p14="http://schemas.microsoft.com/office/powerpoint/2010/main" val="1197285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3243" y="2248604"/>
            <a:ext cx="4889983" cy="1180396"/>
          </a:xfrm>
        </p:spPr>
        <p:txBody>
          <a:bodyPr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ko-KR" altLang="en-US" sz="1800" b="1" i="0" dirty="0">
                <a:effectLst/>
                <a:latin typeface="Noto Sans KR"/>
              </a:rPr>
              <a:t>현대인 식생활 문제 심화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14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외식 및 가공식품 섭취로</a:t>
            </a:r>
            <a:r>
              <a:rPr lang="ko-KR" altLang="en-US" sz="14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 </a:t>
            </a:r>
            <a:r>
              <a:rPr lang="ko-KR" altLang="en-US" sz="1600" b="1" i="0" dirty="0">
                <a:effectLst/>
                <a:latin typeface="Noto Sans KR"/>
              </a:rPr>
              <a:t>지방</a:t>
            </a:r>
            <a:r>
              <a:rPr lang="en-US" altLang="ko-KR" sz="1600" b="1" i="0" dirty="0">
                <a:effectLst/>
                <a:latin typeface="Noto Sans KR"/>
              </a:rPr>
              <a:t>, </a:t>
            </a:r>
            <a:r>
              <a:rPr lang="ko-KR" altLang="en-US" sz="1600" b="1" i="0" dirty="0">
                <a:effectLst/>
                <a:latin typeface="Noto Sans KR"/>
              </a:rPr>
              <a:t>당류</a:t>
            </a:r>
            <a:r>
              <a:rPr lang="en-US" altLang="ko-KR" sz="1600" b="1" i="0" dirty="0">
                <a:effectLst/>
                <a:latin typeface="Noto Sans KR"/>
              </a:rPr>
              <a:t>, </a:t>
            </a:r>
            <a:r>
              <a:rPr lang="ko-KR" altLang="en-US" sz="1600" b="1" i="0" dirty="0">
                <a:effectLst/>
                <a:latin typeface="Noto Sans KR"/>
              </a:rPr>
              <a:t>나트륨의 과잉 섭취</a:t>
            </a:r>
            <a:r>
              <a:rPr lang="ko-KR" altLang="en-US" sz="140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가</a:t>
            </a:r>
            <a:r>
              <a:rPr lang="ko-KR" altLang="en-US" sz="14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 </a:t>
            </a:r>
            <a:r>
              <a:rPr lang="ko-KR" altLang="en-US" sz="14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일상화되어 심각한 영양 불균형 초래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" name="그림 9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0E1470B-2FAA-6645-115D-938C838B9E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253" y="2497142"/>
            <a:ext cx="468000" cy="468000"/>
          </a:xfrm>
          <a:prstGeom prst="rect">
            <a:avLst/>
          </a:prstGeom>
          <a:ln w="12700" cap="rnd">
            <a:noFill/>
            <a:prstDash val="solid"/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161662"/>
                      <a:gd name="connsiteY0" fmla="*/ 0 h 4161662"/>
                      <a:gd name="connsiteX1" fmla="*/ 677756 w 4161662"/>
                      <a:gd name="connsiteY1" fmla="*/ 0 h 4161662"/>
                      <a:gd name="connsiteX2" fmla="*/ 1355513 w 4161662"/>
                      <a:gd name="connsiteY2" fmla="*/ 0 h 4161662"/>
                      <a:gd name="connsiteX3" fmla="*/ 1950036 w 4161662"/>
                      <a:gd name="connsiteY3" fmla="*/ 0 h 4161662"/>
                      <a:gd name="connsiteX4" fmla="*/ 2586176 w 4161662"/>
                      <a:gd name="connsiteY4" fmla="*/ 0 h 4161662"/>
                      <a:gd name="connsiteX5" fmla="*/ 3139082 w 4161662"/>
                      <a:gd name="connsiteY5" fmla="*/ 0 h 4161662"/>
                      <a:gd name="connsiteX6" fmla="*/ 4161662 w 4161662"/>
                      <a:gd name="connsiteY6" fmla="*/ 0 h 4161662"/>
                      <a:gd name="connsiteX7" fmla="*/ 4161662 w 4161662"/>
                      <a:gd name="connsiteY7" fmla="*/ 677756 h 4161662"/>
                      <a:gd name="connsiteX8" fmla="*/ 4161662 w 4161662"/>
                      <a:gd name="connsiteY8" fmla="*/ 1189046 h 4161662"/>
                      <a:gd name="connsiteX9" fmla="*/ 4161662 w 4161662"/>
                      <a:gd name="connsiteY9" fmla="*/ 1658720 h 4161662"/>
                      <a:gd name="connsiteX10" fmla="*/ 4161662 w 4161662"/>
                      <a:gd name="connsiteY10" fmla="*/ 2170009 h 4161662"/>
                      <a:gd name="connsiteX11" fmla="*/ 4161662 w 4161662"/>
                      <a:gd name="connsiteY11" fmla="*/ 2722916 h 4161662"/>
                      <a:gd name="connsiteX12" fmla="*/ 4161662 w 4161662"/>
                      <a:gd name="connsiteY12" fmla="*/ 3317439 h 4161662"/>
                      <a:gd name="connsiteX13" fmla="*/ 4161662 w 4161662"/>
                      <a:gd name="connsiteY13" fmla="*/ 4161662 h 4161662"/>
                      <a:gd name="connsiteX14" fmla="*/ 3483906 w 4161662"/>
                      <a:gd name="connsiteY14" fmla="*/ 4161662 h 4161662"/>
                      <a:gd name="connsiteX15" fmla="*/ 2889382 w 4161662"/>
                      <a:gd name="connsiteY15" fmla="*/ 4161662 h 4161662"/>
                      <a:gd name="connsiteX16" fmla="*/ 2294859 w 4161662"/>
                      <a:gd name="connsiteY16" fmla="*/ 4161662 h 4161662"/>
                      <a:gd name="connsiteX17" fmla="*/ 1700336 w 4161662"/>
                      <a:gd name="connsiteY17" fmla="*/ 4161662 h 4161662"/>
                      <a:gd name="connsiteX18" fmla="*/ 1105813 w 4161662"/>
                      <a:gd name="connsiteY18" fmla="*/ 4161662 h 4161662"/>
                      <a:gd name="connsiteX19" fmla="*/ 552907 w 4161662"/>
                      <a:gd name="connsiteY19" fmla="*/ 4161662 h 4161662"/>
                      <a:gd name="connsiteX20" fmla="*/ 0 w 4161662"/>
                      <a:gd name="connsiteY20" fmla="*/ 4161662 h 4161662"/>
                      <a:gd name="connsiteX21" fmla="*/ 0 w 4161662"/>
                      <a:gd name="connsiteY21" fmla="*/ 3567139 h 4161662"/>
                      <a:gd name="connsiteX22" fmla="*/ 0 w 4161662"/>
                      <a:gd name="connsiteY22" fmla="*/ 2930999 h 4161662"/>
                      <a:gd name="connsiteX23" fmla="*/ 0 w 4161662"/>
                      <a:gd name="connsiteY23" fmla="*/ 2294859 h 4161662"/>
                      <a:gd name="connsiteX24" fmla="*/ 0 w 4161662"/>
                      <a:gd name="connsiteY24" fmla="*/ 1617103 h 4161662"/>
                      <a:gd name="connsiteX25" fmla="*/ 0 w 4161662"/>
                      <a:gd name="connsiteY25" fmla="*/ 1022580 h 4161662"/>
                      <a:gd name="connsiteX26" fmla="*/ 0 w 4161662"/>
                      <a:gd name="connsiteY26" fmla="*/ 0 h 41616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</a:cxnLst>
                    <a:rect l="l" t="t" r="r" b="b"/>
                    <a:pathLst>
                      <a:path w="4161662" h="4161662" fill="none" extrusionOk="0">
                        <a:moveTo>
                          <a:pt x="0" y="0"/>
                        </a:moveTo>
                        <a:cubicBezTo>
                          <a:pt x="146926" y="-49179"/>
                          <a:pt x="423112" y="76956"/>
                          <a:pt x="677756" y="0"/>
                        </a:cubicBezTo>
                        <a:cubicBezTo>
                          <a:pt x="932400" y="-76956"/>
                          <a:pt x="1175110" y="63608"/>
                          <a:pt x="1355513" y="0"/>
                        </a:cubicBezTo>
                        <a:cubicBezTo>
                          <a:pt x="1535916" y="-63608"/>
                          <a:pt x="1693715" y="59913"/>
                          <a:pt x="1950036" y="0"/>
                        </a:cubicBezTo>
                        <a:cubicBezTo>
                          <a:pt x="2206357" y="-59913"/>
                          <a:pt x="2440393" y="51885"/>
                          <a:pt x="2586176" y="0"/>
                        </a:cubicBezTo>
                        <a:cubicBezTo>
                          <a:pt x="2731959" y="-51885"/>
                          <a:pt x="2897339" y="11509"/>
                          <a:pt x="3139082" y="0"/>
                        </a:cubicBezTo>
                        <a:cubicBezTo>
                          <a:pt x="3380825" y="-11509"/>
                          <a:pt x="3850267" y="92030"/>
                          <a:pt x="4161662" y="0"/>
                        </a:cubicBezTo>
                        <a:cubicBezTo>
                          <a:pt x="4193447" y="244183"/>
                          <a:pt x="4113423" y="380579"/>
                          <a:pt x="4161662" y="677756"/>
                        </a:cubicBezTo>
                        <a:cubicBezTo>
                          <a:pt x="4209901" y="974933"/>
                          <a:pt x="4133575" y="1077025"/>
                          <a:pt x="4161662" y="1189046"/>
                        </a:cubicBezTo>
                        <a:cubicBezTo>
                          <a:pt x="4189749" y="1301067"/>
                          <a:pt x="4136844" y="1473854"/>
                          <a:pt x="4161662" y="1658720"/>
                        </a:cubicBezTo>
                        <a:cubicBezTo>
                          <a:pt x="4186480" y="1843586"/>
                          <a:pt x="4102672" y="2024012"/>
                          <a:pt x="4161662" y="2170009"/>
                        </a:cubicBezTo>
                        <a:cubicBezTo>
                          <a:pt x="4220652" y="2316006"/>
                          <a:pt x="4114940" y="2588273"/>
                          <a:pt x="4161662" y="2722916"/>
                        </a:cubicBezTo>
                        <a:cubicBezTo>
                          <a:pt x="4208384" y="2857559"/>
                          <a:pt x="4135370" y="3085759"/>
                          <a:pt x="4161662" y="3317439"/>
                        </a:cubicBezTo>
                        <a:cubicBezTo>
                          <a:pt x="4187954" y="3549119"/>
                          <a:pt x="4106061" y="3795915"/>
                          <a:pt x="4161662" y="4161662"/>
                        </a:cubicBezTo>
                        <a:cubicBezTo>
                          <a:pt x="4013904" y="4228695"/>
                          <a:pt x="3630628" y="4080432"/>
                          <a:pt x="3483906" y="4161662"/>
                        </a:cubicBezTo>
                        <a:cubicBezTo>
                          <a:pt x="3337184" y="4242892"/>
                          <a:pt x="3078083" y="4157000"/>
                          <a:pt x="2889382" y="4161662"/>
                        </a:cubicBezTo>
                        <a:cubicBezTo>
                          <a:pt x="2700681" y="4166324"/>
                          <a:pt x="2475360" y="4157994"/>
                          <a:pt x="2294859" y="4161662"/>
                        </a:cubicBezTo>
                        <a:cubicBezTo>
                          <a:pt x="2114358" y="4165330"/>
                          <a:pt x="1843668" y="4160905"/>
                          <a:pt x="1700336" y="4161662"/>
                        </a:cubicBezTo>
                        <a:cubicBezTo>
                          <a:pt x="1557004" y="4162419"/>
                          <a:pt x="1243994" y="4154280"/>
                          <a:pt x="1105813" y="4161662"/>
                        </a:cubicBezTo>
                        <a:cubicBezTo>
                          <a:pt x="967632" y="4169044"/>
                          <a:pt x="828129" y="4157753"/>
                          <a:pt x="552907" y="4161662"/>
                        </a:cubicBezTo>
                        <a:cubicBezTo>
                          <a:pt x="277685" y="4165571"/>
                          <a:pt x="178676" y="4096086"/>
                          <a:pt x="0" y="4161662"/>
                        </a:cubicBezTo>
                        <a:cubicBezTo>
                          <a:pt x="-14981" y="3992741"/>
                          <a:pt x="37689" y="3797757"/>
                          <a:pt x="0" y="3567139"/>
                        </a:cubicBezTo>
                        <a:cubicBezTo>
                          <a:pt x="-37689" y="3336521"/>
                          <a:pt x="27091" y="3228718"/>
                          <a:pt x="0" y="2930999"/>
                        </a:cubicBezTo>
                        <a:cubicBezTo>
                          <a:pt x="-27091" y="2633280"/>
                          <a:pt x="43696" y="2510108"/>
                          <a:pt x="0" y="2294859"/>
                        </a:cubicBezTo>
                        <a:cubicBezTo>
                          <a:pt x="-43696" y="2079610"/>
                          <a:pt x="4052" y="1817541"/>
                          <a:pt x="0" y="1617103"/>
                        </a:cubicBezTo>
                        <a:cubicBezTo>
                          <a:pt x="-4052" y="1416665"/>
                          <a:pt x="40187" y="1175011"/>
                          <a:pt x="0" y="1022580"/>
                        </a:cubicBezTo>
                        <a:cubicBezTo>
                          <a:pt x="-40187" y="870149"/>
                          <a:pt x="26983" y="470975"/>
                          <a:pt x="0" y="0"/>
                        </a:cubicBezTo>
                        <a:close/>
                      </a:path>
                      <a:path w="4161662" h="4161662" stroke="0" extrusionOk="0">
                        <a:moveTo>
                          <a:pt x="0" y="0"/>
                        </a:moveTo>
                        <a:cubicBezTo>
                          <a:pt x="161768" y="-46457"/>
                          <a:pt x="364502" y="48232"/>
                          <a:pt x="552907" y="0"/>
                        </a:cubicBezTo>
                        <a:cubicBezTo>
                          <a:pt x="741312" y="-48232"/>
                          <a:pt x="901010" y="47903"/>
                          <a:pt x="1022580" y="0"/>
                        </a:cubicBezTo>
                        <a:cubicBezTo>
                          <a:pt x="1144150" y="-47903"/>
                          <a:pt x="1425180" y="53507"/>
                          <a:pt x="1700336" y="0"/>
                        </a:cubicBezTo>
                        <a:cubicBezTo>
                          <a:pt x="1975492" y="-53507"/>
                          <a:pt x="2028110" y="7650"/>
                          <a:pt x="2253243" y="0"/>
                        </a:cubicBezTo>
                        <a:cubicBezTo>
                          <a:pt x="2478376" y="-7650"/>
                          <a:pt x="2628386" y="50070"/>
                          <a:pt x="2806149" y="0"/>
                        </a:cubicBezTo>
                        <a:cubicBezTo>
                          <a:pt x="2983912" y="-50070"/>
                          <a:pt x="3193663" y="51605"/>
                          <a:pt x="3483906" y="0"/>
                        </a:cubicBezTo>
                        <a:cubicBezTo>
                          <a:pt x="3774149" y="-51605"/>
                          <a:pt x="3855060" y="61047"/>
                          <a:pt x="4161662" y="0"/>
                        </a:cubicBezTo>
                        <a:cubicBezTo>
                          <a:pt x="4214231" y="324916"/>
                          <a:pt x="4140513" y="417896"/>
                          <a:pt x="4161662" y="677756"/>
                        </a:cubicBezTo>
                        <a:cubicBezTo>
                          <a:pt x="4182811" y="937616"/>
                          <a:pt x="4143716" y="959576"/>
                          <a:pt x="4161662" y="1189046"/>
                        </a:cubicBezTo>
                        <a:cubicBezTo>
                          <a:pt x="4179608" y="1418516"/>
                          <a:pt x="4105787" y="1527198"/>
                          <a:pt x="4161662" y="1700336"/>
                        </a:cubicBezTo>
                        <a:cubicBezTo>
                          <a:pt x="4217537" y="1873474"/>
                          <a:pt x="4155444" y="2157875"/>
                          <a:pt x="4161662" y="2294859"/>
                        </a:cubicBezTo>
                        <a:cubicBezTo>
                          <a:pt x="4167880" y="2431843"/>
                          <a:pt x="4130736" y="2718138"/>
                          <a:pt x="4161662" y="2930999"/>
                        </a:cubicBezTo>
                        <a:cubicBezTo>
                          <a:pt x="4192588" y="3143860"/>
                          <a:pt x="4160212" y="3219224"/>
                          <a:pt x="4161662" y="3400672"/>
                        </a:cubicBezTo>
                        <a:cubicBezTo>
                          <a:pt x="4163112" y="3582120"/>
                          <a:pt x="4094120" y="3802505"/>
                          <a:pt x="4161662" y="4161662"/>
                        </a:cubicBezTo>
                        <a:cubicBezTo>
                          <a:pt x="3921811" y="4166974"/>
                          <a:pt x="3722507" y="4142918"/>
                          <a:pt x="3567139" y="4161662"/>
                        </a:cubicBezTo>
                        <a:cubicBezTo>
                          <a:pt x="3411771" y="4180406"/>
                          <a:pt x="3120016" y="4136184"/>
                          <a:pt x="2972616" y="4161662"/>
                        </a:cubicBezTo>
                        <a:cubicBezTo>
                          <a:pt x="2825216" y="4187140"/>
                          <a:pt x="2543113" y="4110598"/>
                          <a:pt x="2294859" y="4161662"/>
                        </a:cubicBezTo>
                        <a:cubicBezTo>
                          <a:pt x="2046605" y="4212726"/>
                          <a:pt x="1981969" y="4133006"/>
                          <a:pt x="1700336" y="4161662"/>
                        </a:cubicBezTo>
                        <a:cubicBezTo>
                          <a:pt x="1418703" y="4190318"/>
                          <a:pt x="1354265" y="4106015"/>
                          <a:pt x="1230663" y="4161662"/>
                        </a:cubicBezTo>
                        <a:cubicBezTo>
                          <a:pt x="1107061" y="4217309"/>
                          <a:pt x="957609" y="4118690"/>
                          <a:pt x="719373" y="4161662"/>
                        </a:cubicBezTo>
                        <a:cubicBezTo>
                          <a:pt x="481137" y="4204634"/>
                          <a:pt x="167330" y="4156625"/>
                          <a:pt x="0" y="4161662"/>
                        </a:cubicBezTo>
                        <a:cubicBezTo>
                          <a:pt x="-65854" y="3896313"/>
                          <a:pt x="16740" y="3726990"/>
                          <a:pt x="0" y="3567139"/>
                        </a:cubicBezTo>
                        <a:cubicBezTo>
                          <a:pt x="-16740" y="3407288"/>
                          <a:pt x="21521" y="3243218"/>
                          <a:pt x="0" y="2972616"/>
                        </a:cubicBezTo>
                        <a:cubicBezTo>
                          <a:pt x="-21521" y="2702014"/>
                          <a:pt x="8046" y="2679564"/>
                          <a:pt x="0" y="2419709"/>
                        </a:cubicBezTo>
                        <a:cubicBezTo>
                          <a:pt x="-8046" y="2159854"/>
                          <a:pt x="4077" y="2143863"/>
                          <a:pt x="0" y="1950036"/>
                        </a:cubicBezTo>
                        <a:cubicBezTo>
                          <a:pt x="-4077" y="1756209"/>
                          <a:pt x="49112" y="1658208"/>
                          <a:pt x="0" y="1480363"/>
                        </a:cubicBezTo>
                        <a:cubicBezTo>
                          <a:pt x="-49112" y="1302518"/>
                          <a:pt x="59946" y="1077805"/>
                          <a:pt x="0" y="844223"/>
                        </a:cubicBezTo>
                        <a:cubicBezTo>
                          <a:pt x="-59946" y="610641"/>
                          <a:pt x="86630" y="40924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</p:pic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1313244" y="4813418"/>
            <a:ext cx="4452226" cy="13756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sz="1800" b="1">
                <a:latin typeface="Noto Sans KR"/>
              </a:rPr>
              <a:t>만성질환 위험 증가</a:t>
            </a: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Noto Sans KR"/>
              </a:rPr>
              <a:t>잘못된 식습관으로 인해 </a:t>
            </a:r>
            <a:r>
              <a:rPr lang="ko-KR" altLang="en-US" sz="1400" b="1">
                <a:latin typeface="Noto Sans KR"/>
              </a:rPr>
              <a:t>고콜레스테롤혈증</a:t>
            </a:r>
            <a:r>
              <a:rPr lang="ko-KR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Noto Sans KR"/>
              </a:rPr>
              <a:t> 만성질환 유병률 증가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7" name="그림 16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D4F120A-9945-AF4B-0051-06D1126780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253" y="5080397"/>
            <a:ext cx="468000" cy="46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3" y="234292"/>
            <a:ext cx="2009318" cy="946104"/>
          </a:xfrm>
        </p:spPr>
        <p:txBody>
          <a:bodyPr>
            <a:norm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기획의도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9CA5E893-BE61-1B2C-5561-000A6EBB97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3288358" y="3758025"/>
            <a:ext cx="396000" cy="3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 descr="텍스트, 폰트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ED0E3DF-A767-B1A3-C31A-CAA6D0ADDF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1018" y="5501261"/>
            <a:ext cx="5373738" cy="1056904"/>
          </a:xfrm>
          <a:prstGeom prst="rect">
            <a:avLst/>
          </a:prstGeom>
        </p:spPr>
      </p:pic>
      <p:pic>
        <p:nvPicPr>
          <p:cNvPr id="8" name="그림 7" descr="텍스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7C0D45A7-01FB-D98F-271F-4BABD3FAA69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647" y="3955981"/>
            <a:ext cx="5372109" cy="1575819"/>
          </a:xfrm>
          <a:prstGeom prst="rect">
            <a:avLst/>
          </a:prstGeom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ED8B41D-99E1-876D-2BFC-742037A8D708}"/>
              </a:ext>
            </a:extLst>
          </p:cNvPr>
          <p:cNvCxnSpPr>
            <a:cxnSpLocks/>
          </p:cNvCxnSpPr>
          <p:nvPr/>
        </p:nvCxnSpPr>
        <p:spPr>
          <a:xfrm>
            <a:off x="6204857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1" name="그림 10">
            <a:extLst>
              <a:ext uri="{FF2B5EF4-FFF2-40B4-BE49-F238E27FC236}">
                <a16:creationId xmlns:a16="http://schemas.microsoft.com/office/drawing/2014/main" id="{D9147C75-3356-63BC-9412-754748EC52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3461" y="2908102"/>
            <a:ext cx="5373738" cy="104787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EC5012B-FC18-6B7D-F1D7-F7FC63B45BF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13462" y="1915525"/>
            <a:ext cx="5372108" cy="1073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9809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3243" y="2248604"/>
            <a:ext cx="4889983" cy="1180396"/>
          </a:xfrm>
        </p:spPr>
        <p:txBody>
          <a:bodyPr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ko-KR" altLang="en-US" sz="1800" b="1" i="0">
                <a:effectLst/>
                <a:latin typeface="Noto Sans KR"/>
              </a:rPr>
              <a:t>현대인 식생활 문제 심화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14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외식 및 가공식품 섭취로</a:t>
            </a:r>
            <a:r>
              <a:rPr lang="ko-KR" altLang="en-US" sz="14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 </a:t>
            </a:r>
            <a:r>
              <a:rPr lang="ko-KR" altLang="en-US" sz="1600" b="1" i="0">
                <a:effectLst/>
                <a:latin typeface="Noto Sans KR"/>
              </a:rPr>
              <a:t>지방</a:t>
            </a:r>
            <a:r>
              <a:rPr lang="en-US" altLang="ko-KR" sz="1600" b="1" i="0">
                <a:effectLst/>
                <a:latin typeface="Noto Sans KR"/>
              </a:rPr>
              <a:t>, </a:t>
            </a:r>
            <a:r>
              <a:rPr lang="ko-KR" altLang="en-US" sz="1600" b="1" i="0">
                <a:effectLst/>
                <a:latin typeface="Noto Sans KR"/>
              </a:rPr>
              <a:t>당류</a:t>
            </a:r>
            <a:r>
              <a:rPr lang="en-US" altLang="ko-KR" sz="1600" b="1" i="0">
                <a:effectLst/>
                <a:latin typeface="Noto Sans KR"/>
              </a:rPr>
              <a:t>, </a:t>
            </a:r>
            <a:r>
              <a:rPr lang="ko-KR" altLang="en-US" sz="1600" b="1" i="0">
                <a:effectLst/>
                <a:latin typeface="Noto Sans KR"/>
              </a:rPr>
              <a:t>나트륨의 과잉 섭취</a:t>
            </a:r>
            <a:r>
              <a:rPr lang="ko-KR" altLang="en-US" sz="140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가</a:t>
            </a:r>
            <a:r>
              <a:rPr lang="ko-KR" altLang="en-US" sz="14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 </a:t>
            </a:r>
            <a:r>
              <a:rPr lang="ko-KR" altLang="en-US" sz="14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일상화되어 심각한 영양 불균형 초래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" name="그림 9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0E1470B-2FAA-6645-115D-938C838B9E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253" y="2497142"/>
            <a:ext cx="468000" cy="468000"/>
          </a:xfrm>
          <a:prstGeom prst="rect">
            <a:avLst/>
          </a:prstGeom>
          <a:ln w="12700" cap="rnd">
            <a:noFill/>
            <a:prstDash val="solid"/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161662"/>
                      <a:gd name="connsiteY0" fmla="*/ 0 h 4161662"/>
                      <a:gd name="connsiteX1" fmla="*/ 677756 w 4161662"/>
                      <a:gd name="connsiteY1" fmla="*/ 0 h 4161662"/>
                      <a:gd name="connsiteX2" fmla="*/ 1355513 w 4161662"/>
                      <a:gd name="connsiteY2" fmla="*/ 0 h 4161662"/>
                      <a:gd name="connsiteX3" fmla="*/ 1950036 w 4161662"/>
                      <a:gd name="connsiteY3" fmla="*/ 0 h 4161662"/>
                      <a:gd name="connsiteX4" fmla="*/ 2586176 w 4161662"/>
                      <a:gd name="connsiteY4" fmla="*/ 0 h 4161662"/>
                      <a:gd name="connsiteX5" fmla="*/ 3139082 w 4161662"/>
                      <a:gd name="connsiteY5" fmla="*/ 0 h 4161662"/>
                      <a:gd name="connsiteX6" fmla="*/ 4161662 w 4161662"/>
                      <a:gd name="connsiteY6" fmla="*/ 0 h 4161662"/>
                      <a:gd name="connsiteX7" fmla="*/ 4161662 w 4161662"/>
                      <a:gd name="connsiteY7" fmla="*/ 677756 h 4161662"/>
                      <a:gd name="connsiteX8" fmla="*/ 4161662 w 4161662"/>
                      <a:gd name="connsiteY8" fmla="*/ 1189046 h 4161662"/>
                      <a:gd name="connsiteX9" fmla="*/ 4161662 w 4161662"/>
                      <a:gd name="connsiteY9" fmla="*/ 1658720 h 4161662"/>
                      <a:gd name="connsiteX10" fmla="*/ 4161662 w 4161662"/>
                      <a:gd name="connsiteY10" fmla="*/ 2170009 h 4161662"/>
                      <a:gd name="connsiteX11" fmla="*/ 4161662 w 4161662"/>
                      <a:gd name="connsiteY11" fmla="*/ 2722916 h 4161662"/>
                      <a:gd name="connsiteX12" fmla="*/ 4161662 w 4161662"/>
                      <a:gd name="connsiteY12" fmla="*/ 3317439 h 4161662"/>
                      <a:gd name="connsiteX13" fmla="*/ 4161662 w 4161662"/>
                      <a:gd name="connsiteY13" fmla="*/ 4161662 h 4161662"/>
                      <a:gd name="connsiteX14" fmla="*/ 3483906 w 4161662"/>
                      <a:gd name="connsiteY14" fmla="*/ 4161662 h 4161662"/>
                      <a:gd name="connsiteX15" fmla="*/ 2889382 w 4161662"/>
                      <a:gd name="connsiteY15" fmla="*/ 4161662 h 4161662"/>
                      <a:gd name="connsiteX16" fmla="*/ 2294859 w 4161662"/>
                      <a:gd name="connsiteY16" fmla="*/ 4161662 h 4161662"/>
                      <a:gd name="connsiteX17" fmla="*/ 1700336 w 4161662"/>
                      <a:gd name="connsiteY17" fmla="*/ 4161662 h 4161662"/>
                      <a:gd name="connsiteX18" fmla="*/ 1105813 w 4161662"/>
                      <a:gd name="connsiteY18" fmla="*/ 4161662 h 4161662"/>
                      <a:gd name="connsiteX19" fmla="*/ 552907 w 4161662"/>
                      <a:gd name="connsiteY19" fmla="*/ 4161662 h 4161662"/>
                      <a:gd name="connsiteX20" fmla="*/ 0 w 4161662"/>
                      <a:gd name="connsiteY20" fmla="*/ 4161662 h 4161662"/>
                      <a:gd name="connsiteX21" fmla="*/ 0 w 4161662"/>
                      <a:gd name="connsiteY21" fmla="*/ 3567139 h 4161662"/>
                      <a:gd name="connsiteX22" fmla="*/ 0 w 4161662"/>
                      <a:gd name="connsiteY22" fmla="*/ 2930999 h 4161662"/>
                      <a:gd name="connsiteX23" fmla="*/ 0 w 4161662"/>
                      <a:gd name="connsiteY23" fmla="*/ 2294859 h 4161662"/>
                      <a:gd name="connsiteX24" fmla="*/ 0 w 4161662"/>
                      <a:gd name="connsiteY24" fmla="*/ 1617103 h 4161662"/>
                      <a:gd name="connsiteX25" fmla="*/ 0 w 4161662"/>
                      <a:gd name="connsiteY25" fmla="*/ 1022580 h 4161662"/>
                      <a:gd name="connsiteX26" fmla="*/ 0 w 4161662"/>
                      <a:gd name="connsiteY26" fmla="*/ 0 h 41616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</a:cxnLst>
                    <a:rect l="l" t="t" r="r" b="b"/>
                    <a:pathLst>
                      <a:path w="4161662" h="4161662" fill="none" extrusionOk="0">
                        <a:moveTo>
                          <a:pt x="0" y="0"/>
                        </a:moveTo>
                        <a:cubicBezTo>
                          <a:pt x="146926" y="-49179"/>
                          <a:pt x="423112" y="76956"/>
                          <a:pt x="677756" y="0"/>
                        </a:cubicBezTo>
                        <a:cubicBezTo>
                          <a:pt x="932400" y="-76956"/>
                          <a:pt x="1175110" y="63608"/>
                          <a:pt x="1355513" y="0"/>
                        </a:cubicBezTo>
                        <a:cubicBezTo>
                          <a:pt x="1535916" y="-63608"/>
                          <a:pt x="1693715" y="59913"/>
                          <a:pt x="1950036" y="0"/>
                        </a:cubicBezTo>
                        <a:cubicBezTo>
                          <a:pt x="2206357" y="-59913"/>
                          <a:pt x="2440393" y="51885"/>
                          <a:pt x="2586176" y="0"/>
                        </a:cubicBezTo>
                        <a:cubicBezTo>
                          <a:pt x="2731959" y="-51885"/>
                          <a:pt x="2897339" y="11509"/>
                          <a:pt x="3139082" y="0"/>
                        </a:cubicBezTo>
                        <a:cubicBezTo>
                          <a:pt x="3380825" y="-11509"/>
                          <a:pt x="3850267" y="92030"/>
                          <a:pt x="4161662" y="0"/>
                        </a:cubicBezTo>
                        <a:cubicBezTo>
                          <a:pt x="4193447" y="244183"/>
                          <a:pt x="4113423" y="380579"/>
                          <a:pt x="4161662" y="677756"/>
                        </a:cubicBezTo>
                        <a:cubicBezTo>
                          <a:pt x="4209901" y="974933"/>
                          <a:pt x="4133575" y="1077025"/>
                          <a:pt x="4161662" y="1189046"/>
                        </a:cubicBezTo>
                        <a:cubicBezTo>
                          <a:pt x="4189749" y="1301067"/>
                          <a:pt x="4136844" y="1473854"/>
                          <a:pt x="4161662" y="1658720"/>
                        </a:cubicBezTo>
                        <a:cubicBezTo>
                          <a:pt x="4186480" y="1843586"/>
                          <a:pt x="4102672" y="2024012"/>
                          <a:pt x="4161662" y="2170009"/>
                        </a:cubicBezTo>
                        <a:cubicBezTo>
                          <a:pt x="4220652" y="2316006"/>
                          <a:pt x="4114940" y="2588273"/>
                          <a:pt x="4161662" y="2722916"/>
                        </a:cubicBezTo>
                        <a:cubicBezTo>
                          <a:pt x="4208384" y="2857559"/>
                          <a:pt x="4135370" y="3085759"/>
                          <a:pt x="4161662" y="3317439"/>
                        </a:cubicBezTo>
                        <a:cubicBezTo>
                          <a:pt x="4187954" y="3549119"/>
                          <a:pt x="4106061" y="3795915"/>
                          <a:pt x="4161662" y="4161662"/>
                        </a:cubicBezTo>
                        <a:cubicBezTo>
                          <a:pt x="4013904" y="4228695"/>
                          <a:pt x="3630628" y="4080432"/>
                          <a:pt x="3483906" y="4161662"/>
                        </a:cubicBezTo>
                        <a:cubicBezTo>
                          <a:pt x="3337184" y="4242892"/>
                          <a:pt x="3078083" y="4157000"/>
                          <a:pt x="2889382" y="4161662"/>
                        </a:cubicBezTo>
                        <a:cubicBezTo>
                          <a:pt x="2700681" y="4166324"/>
                          <a:pt x="2475360" y="4157994"/>
                          <a:pt x="2294859" y="4161662"/>
                        </a:cubicBezTo>
                        <a:cubicBezTo>
                          <a:pt x="2114358" y="4165330"/>
                          <a:pt x="1843668" y="4160905"/>
                          <a:pt x="1700336" y="4161662"/>
                        </a:cubicBezTo>
                        <a:cubicBezTo>
                          <a:pt x="1557004" y="4162419"/>
                          <a:pt x="1243994" y="4154280"/>
                          <a:pt x="1105813" y="4161662"/>
                        </a:cubicBezTo>
                        <a:cubicBezTo>
                          <a:pt x="967632" y="4169044"/>
                          <a:pt x="828129" y="4157753"/>
                          <a:pt x="552907" y="4161662"/>
                        </a:cubicBezTo>
                        <a:cubicBezTo>
                          <a:pt x="277685" y="4165571"/>
                          <a:pt x="178676" y="4096086"/>
                          <a:pt x="0" y="4161662"/>
                        </a:cubicBezTo>
                        <a:cubicBezTo>
                          <a:pt x="-14981" y="3992741"/>
                          <a:pt x="37689" y="3797757"/>
                          <a:pt x="0" y="3567139"/>
                        </a:cubicBezTo>
                        <a:cubicBezTo>
                          <a:pt x="-37689" y="3336521"/>
                          <a:pt x="27091" y="3228718"/>
                          <a:pt x="0" y="2930999"/>
                        </a:cubicBezTo>
                        <a:cubicBezTo>
                          <a:pt x="-27091" y="2633280"/>
                          <a:pt x="43696" y="2510108"/>
                          <a:pt x="0" y="2294859"/>
                        </a:cubicBezTo>
                        <a:cubicBezTo>
                          <a:pt x="-43696" y="2079610"/>
                          <a:pt x="4052" y="1817541"/>
                          <a:pt x="0" y="1617103"/>
                        </a:cubicBezTo>
                        <a:cubicBezTo>
                          <a:pt x="-4052" y="1416665"/>
                          <a:pt x="40187" y="1175011"/>
                          <a:pt x="0" y="1022580"/>
                        </a:cubicBezTo>
                        <a:cubicBezTo>
                          <a:pt x="-40187" y="870149"/>
                          <a:pt x="26983" y="470975"/>
                          <a:pt x="0" y="0"/>
                        </a:cubicBezTo>
                        <a:close/>
                      </a:path>
                      <a:path w="4161662" h="4161662" stroke="0" extrusionOk="0">
                        <a:moveTo>
                          <a:pt x="0" y="0"/>
                        </a:moveTo>
                        <a:cubicBezTo>
                          <a:pt x="161768" y="-46457"/>
                          <a:pt x="364502" y="48232"/>
                          <a:pt x="552907" y="0"/>
                        </a:cubicBezTo>
                        <a:cubicBezTo>
                          <a:pt x="741312" y="-48232"/>
                          <a:pt x="901010" y="47903"/>
                          <a:pt x="1022580" y="0"/>
                        </a:cubicBezTo>
                        <a:cubicBezTo>
                          <a:pt x="1144150" y="-47903"/>
                          <a:pt x="1425180" y="53507"/>
                          <a:pt x="1700336" y="0"/>
                        </a:cubicBezTo>
                        <a:cubicBezTo>
                          <a:pt x="1975492" y="-53507"/>
                          <a:pt x="2028110" y="7650"/>
                          <a:pt x="2253243" y="0"/>
                        </a:cubicBezTo>
                        <a:cubicBezTo>
                          <a:pt x="2478376" y="-7650"/>
                          <a:pt x="2628386" y="50070"/>
                          <a:pt x="2806149" y="0"/>
                        </a:cubicBezTo>
                        <a:cubicBezTo>
                          <a:pt x="2983912" y="-50070"/>
                          <a:pt x="3193663" y="51605"/>
                          <a:pt x="3483906" y="0"/>
                        </a:cubicBezTo>
                        <a:cubicBezTo>
                          <a:pt x="3774149" y="-51605"/>
                          <a:pt x="3855060" y="61047"/>
                          <a:pt x="4161662" y="0"/>
                        </a:cubicBezTo>
                        <a:cubicBezTo>
                          <a:pt x="4214231" y="324916"/>
                          <a:pt x="4140513" y="417896"/>
                          <a:pt x="4161662" y="677756"/>
                        </a:cubicBezTo>
                        <a:cubicBezTo>
                          <a:pt x="4182811" y="937616"/>
                          <a:pt x="4143716" y="959576"/>
                          <a:pt x="4161662" y="1189046"/>
                        </a:cubicBezTo>
                        <a:cubicBezTo>
                          <a:pt x="4179608" y="1418516"/>
                          <a:pt x="4105787" y="1527198"/>
                          <a:pt x="4161662" y="1700336"/>
                        </a:cubicBezTo>
                        <a:cubicBezTo>
                          <a:pt x="4217537" y="1873474"/>
                          <a:pt x="4155444" y="2157875"/>
                          <a:pt x="4161662" y="2294859"/>
                        </a:cubicBezTo>
                        <a:cubicBezTo>
                          <a:pt x="4167880" y="2431843"/>
                          <a:pt x="4130736" y="2718138"/>
                          <a:pt x="4161662" y="2930999"/>
                        </a:cubicBezTo>
                        <a:cubicBezTo>
                          <a:pt x="4192588" y="3143860"/>
                          <a:pt x="4160212" y="3219224"/>
                          <a:pt x="4161662" y="3400672"/>
                        </a:cubicBezTo>
                        <a:cubicBezTo>
                          <a:pt x="4163112" y="3582120"/>
                          <a:pt x="4094120" y="3802505"/>
                          <a:pt x="4161662" y="4161662"/>
                        </a:cubicBezTo>
                        <a:cubicBezTo>
                          <a:pt x="3921811" y="4166974"/>
                          <a:pt x="3722507" y="4142918"/>
                          <a:pt x="3567139" y="4161662"/>
                        </a:cubicBezTo>
                        <a:cubicBezTo>
                          <a:pt x="3411771" y="4180406"/>
                          <a:pt x="3120016" y="4136184"/>
                          <a:pt x="2972616" y="4161662"/>
                        </a:cubicBezTo>
                        <a:cubicBezTo>
                          <a:pt x="2825216" y="4187140"/>
                          <a:pt x="2543113" y="4110598"/>
                          <a:pt x="2294859" y="4161662"/>
                        </a:cubicBezTo>
                        <a:cubicBezTo>
                          <a:pt x="2046605" y="4212726"/>
                          <a:pt x="1981969" y="4133006"/>
                          <a:pt x="1700336" y="4161662"/>
                        </a:cubicBezTo>
                        <a:cubicBezTo>
                          <a:pt x="1418703" y="4190318"/>
                          <a:pt x="1354265" y="4106015"/>
                          <a:pt x="1230663" y="4161662"/>
                        </a:cubicBezTo>
                        <a:cubicBezTo>
                          <a:pt x="1107061" y="4217309"/>
                          <a:pt x="957609" y="4118690"/>
                          <a:pt x="719373" y="4161662"/>
                        </a:cubicBezTo>
                        <a:cubicBezTo>
                          <a:pt x="481137" y="4204634"/>
                          <a:pt x="167330" y="4156625"/>
                          <a:pt x="0" y="4161662"/>
                        </a:cubicBezTo>
                        <a:cubicBezTo>
                          <a:pt x="-65854" y="3896313"/>
                          <a:pt x="16740" y="3726990"/>
                          <a:pt x="0" y="3567139"/>
                        </a:cubicBezTo>
                        <a:cubicBezTo>
                          <a:pt x="-16740" y="3407288"/>
                          <a:pt x="21521" y="3243218"/>
                          <a:pt x="0" y="2972616"/>
                        </a:cubicBezTo>
                        <a:cubicBezTo>
                          <a:pt x="-21521" y="2702014"/>
                          <a:pt x="8046" y="2679564"/>
                          <a:pt x="0" y="2419709"/>
                        </a:cubicBezTo>
                        <a:cubicBezTo>
                          <a:pt x="-8046" y="2159854"/>
                          <a:pt x="4077" y="2143863"/>
                          <a:pt x="0" y="1950036"/>
                        </a:cubicBezTo>
                        <a:cubicBezTo>
                          <a:pt x="-4077" y="1756209"/>
                          <a:pt x="49112" y="1658208"/>
                          <a:pt x="0" y="1480363"/>
                        </a:cubicBezTo>
                        <a:cubicBezTo>
                          <a:pt x="-49112" y="1302518"/>
                          <a:pt x="59946" y="1077805"/>
                          <a:pt x="0" y="844223"/>
                        </a:cubicBezTo>
                        <a:cubicBezTo>
                          <a:pt x="-59946" y="610641"/>
                          <a:pt x="86630" y="40924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</p:pic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1313244" y="4813418"/>
            <a:ext cx="4452226" cy="13756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sz="1800" b="1">
                <a:latin typeface="Noto Sans KR"/>
              </a:rPr>
              <a:t>만성질환 위험 증가</a:t>
            </a: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Noto Sans KR"/>
              </a:rPr>
              <a:t>잘못된 식습관으로 인해 </a:t>
            </a:r>
            <a:r>
              <a:rPr lang="ko-KR" altLang="en-US" sz="1400" b="1">
                <a:latin typeface="Noto Sans KR"/>
              </a:rPr>
              <a:t>고콜레스테롤혈증</a:t>
            </a:r>
            <a:r>
              <a:rPr lang="ko-KR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Noto Sans KR"/>
              </a:rPr>
              <a:t> 만성질환 유병률 증가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7" name="그림 16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D4F120A-9945-AF4B-0051-06D1126780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253" y="5080397"/>
            <a:ext cx="468000" cy="46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3" y="234292"/>
            <a:ext cx="2009318" cy="946104"/>
          </a:xfrm>
        </p:spPr>
        <p:txBody>
          <a:bodyPr>
            <a:norm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기획의도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9CA5E893-BE61-1B2C-5561-000A6EBB97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3288358" y="3758025"/>
            <a:ext cx="396000" cy="3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 descr="텍스트, 폰트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ED0E3DF-A767-B1A3-C31A-CAA6D0ADDF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1018" y="5501261"/>
            <a:ext cx="5373738" cy="1056904"/>
          </a:xfrm>
          <a:prstGeom prst="rect">
            <a:avLst/>
          </a:prstGeom>
        </p:spPr>
      </p:pic>
      <p:pic>
        <p:nvPicPr>
          <p:cNvPr id="8" name="그림 7" descr="텍스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7C0D45A7-01FB-D98F-271F-4BABD3FAA69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647" y="3955981"/>
            <a:ext cx="5372109" cy="1575819"/>
          </a:xfrm>
          <a:prstGeom prst="rect">
            <a:avLst/>
          </a:prstGeom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ED8B41D-99E1-876D-2BFC-742037A8D708}"/>
              </a:ext>
            </a:extLst>
          </p:cNvPr>
          <p:cNvCxnSpPr>
            <a:cxnSpLocks/>
          </p:cNvCxnSpPr>
          <p:nvPr/>
        </p:nvCxnSpPr>
        <p:spPr>
          <a:xfrm>
            <a:off x="6204857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1" name="그림 10">
            <a:extLst>
              <a:ext uri="{FF2B5EF4-FFF2-40B4-BE49-F238E27FC236}">
                <a16:creationId xmlns:a16="http://schemas.microsoft.com/office/drawing/2014/main" id="{D9147C75-3356-63BC-9412-754748EC52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3461" y="2908102"/>
            <a:ext cx="5373738" cy="104787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EC5012B-FC18-6B7D-F1D7-F7FC63B45BF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13462" y="1915525"/>
            <a:ext cx="5372108" cy="1073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9627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3243" y="2248604"/>
            <a:ext cx="4889983" cy="1180396"/>
          </a:xfrm>
        </p:spPr>
        <p:txBody>
          <a:bodyPr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ko-KR" altLang="en-US" sz="1800" b="1" i="0">
                <a:effectLst/>
                <a:latin typeface="Noto Sans KR"/>
              </a:rPr>
              <a:t>현대인 식생활 문제 심화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14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외식 및 가공식품 섭취로</a:t>
            </a:r>
            <a:r>
              <a:rPr lang="ko-KR" altLang="en-US" sz="14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 </a:t>
            </a:r>
            <a:r>
              <a:rPr lang="ko-KR" altLang="en-US" sz="1600" b="1" i="0">
                <a:effectLst/>
                <a:latin typeface="Noto Sans KR"/>
              </a:rPr>
              <a:t>지방</a:t>
            </a:r>
            <a:r>
              <a:rPr lang="en-US" altLang="ko-KR" sz="1600" b="1" i="0">
                <a:effectLst/>
                <a:latin typeface="Noto Sans KR"/>
              </a:rPr>
              <a:t>, </a:t>
            </a:r>
            <a:r>
              <a:rPr lang="ko-KR" altLang="en-US" sz="1600" b="1" i="0">
                <a:effectLst/>
                <a:latin typeface="Noto Sans KR"/>
              </a:rPr>
              <a:t>당류</a:t>
            </a:r>
            <a:r>
              <a:rPr lang="en-US" altLang="ko-KR" sz="1600" b="1" i="0">
                <a:effectLst/>
                <a:latin typeface="Noto Sans KR"/>
              </a:rPr>
              <a:t>, </a:t>
            </a:r>
            <a:r>
              <a:rPr lang="ko-KR" altLang="en-US" sz="1600" b="1" i="0">
                <a:effectLst/>
                <a:latin typeface="Noto Sans KR"/>
              </a:rPr>
              <a:t>나트륨의 과잉 섭취</a:t>
            </a:r>
            <a:r>
              <a:rPr lang="ko-KR" altLang="en-US" sz="140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가</a:t>
            </a:r>
            <a:r>
              <a:rPr lang="ko-KR" altLang="en-US" sz="14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 </a:t>
            </a:r>
            <a:r>
              <a:rPr lang="ko-KR" altLang="en-US" sz="14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일상화되어 심각한 영양 불균형 초래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" name="그림 9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0E1470B-2FAA-6645-115D-938C838B9E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253" y="2497142"/>
            <a:ext cx="468000" cy="468000"/>
          </a:xfrm>
          <a:prstGeom prst="rect">
            <a:avLst/>
          </a:prstGeom>
          <a:ln w="12700" cap="rnd">
            <a:noFill/>
            <a:prstDash val="solid"/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161662"/>
                      <a:gd name="connsiteY0" fmla="*/ 0 h 4161662"/>
                      <a:gd name="connsiteX1" fmla="*/ 677756 w 4161662"/>
                      <a:gd name="connsiteY1" fmla="*/ 0 h 4161662"/>
                      <a:gd name="connsiteX2" fmla="*/ 1355513 w 4161662"/>
                      <a:gd name="connsiteY2" fmla="*/ 0 h 4161662"/>
                      <a:gd name="connsiteX3" fmla="*/ 1950036 w 4161662"/>
                      <a:gd name="connsiteY3" fmla="*/ 0 h 4161662"/>
                      <a:gd name="connsiteX4" fmla="*/ 2586176 w 4161662"/>
                      <a:gd name="connsiteY4" fmla="*/ 0 h 4161662"/>
                      <a:gd name="connsiteX5" fmla="*/ 3139082 w 4161662"/>
                      <a:gd name="connsiteY5" fmla="*/ 0 h 4161662"/>
                      <a:gd name="connsiteX6" fmla="*/ 4161662 w 4161662"/>
                      <a:gd name="connsiteY6" fmla="*/ 0 h 4161662"/>
                      <a:gd name="connsiteX7" fmla="*/ 4161662 w 4161662"/>
                      <a:gd name="connsiteY7" fmla="*/ 677756 h 4161662"/>
                      <a:gd name="connsiteX8" fmla="*/ 4161662 w 4161662"/>
                      <a:gd name="connsiteY8" fmla="*/ 1189046 h 4161662"/>
                      <a:gd name="connsiteX9" fmla="*/ 4161662 w 4161662"/>
                      <a:gd name="connsiteY9" fmla="*/ 1658720 h 4161662"/>
                      <a:gd name="connsiteX10" fmla="*/ 4161662 w 4161662"/>
                      <a:gd name="connsiteY10" fmla="*/ 2170009 h 4161662"/>
                      <a:gd name="connsiteX11" fmla="*/ 4161662 w 4161662"/>
                      <a:gd name="connsiteY11" fmla="*/ 2722916 h 4161662"/>
                      <a:gd name="connsiteX12" fmla="*/ 4161662 w 4161662"/>
                      <a:gd name="connsiteY12" fmla="*/ 3317439 h 4161662"/>
                      <a:gd name="connsiteX13" fmla="*/ 4161662 w 4161662"/>
                      <a:gd name="connsiteY13" fmla="*/ 4161662 h 4161662"/>
                      <a:gd name="connsiteX14" fmla="*/ 3483906 w 4161662"/>
                      <a:gd name="connsiteY14" fmla="*/ 4161662 h 4161662"/>
                      <a:gd name="connsiteX15" fmla="*/ 2889382 w 4161662"/>
                      <a:gd name="connsiteY15" fmla="*/ 4161662 h 4161662"/>
                      <a:gd name="connsiteX16" fmla="*/ 2294859 w 4161662"/>
                      <a:gd name="connsiteY16" fmla="*/ 4161662 h 4161662"/>
                      <a:gd name="connsiteX17" fmla="*/ 1700336 w 4161662"/>
                      <a:gd name="connsiteY17" fmla="*/ 4161662 h 4161662"/>
                      <a:gd name="connsiteX18" fmla="*/ 1105813 w 4161662"/>
                      <a:gd name="connsiteY18" fmla="*/ 4161662 h 4161662"/>
                      <a:gd name="connsiteX19" fmla="*/ 552907 w 4161662"/>
                      <a:gd name="connsiteY19" fmla="*/ 4161662 h 4161662"/>
                      <a:gd name="connsiteX20" fmla="*/ 0 w 4161662"/>
                      <a:gd name="connsiteY20" fmla="*/ 4161662 h 4161662"/>
                      <a:gd name="connsiteX21" fmla="*/ 0 w 4161662"/>
                      <a:gd name="connsiteY21" fmla="*/ 3567139 h 4161662"/>
                      <a:gd name="connsiteX22" fmla="*/ 0 w 4161662"/>
                      <a:gd name="connsiteY22" fmla="*/ 2930999 h 4161662"/>
                      <a:gd name="connsiteX23" fmla="*/ 0 w 4161662"/>
                      <a:gd name="connsiteY23" fmla="*/ 2294859 h 4161662"/>
                      <a:gd name="connsiteX24" fmla="*/ 0 w 4161662"/>
                      <a:gd name="connsiteY24" fmla="*/ 1617103 h 4161662"/>
                      <a:gd name="connsiteX25" fmla="*/ 0 w 4161662"/>
                      <a:gd name="connsiteY25" fmla="*/ 1022580 h 4161662"/>
                      <a:gd name="connsiteX26" fmla="*/ 0 w 4161662"/>
                      <a:gd name="connsiteY26" fmla="*/ 0 h 41616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</a:cxnLst>
                    <a:rect l="l" t="t" r="r" b="b"/>
                    <a:pathLst>
                      <a:path w="4161662" h="4161662" fill="none" extrusionOk="0">
                        <a:moveTo>
                          <a:pt x="0" y="0"/>
                        </a:moveTo>
                        <a:cubicBezTo>
                          <a:pt x="146926" y="-49179"/>
                          <a:pt x="423112" y="76956"/>
                          <a:pt x="677756" y="0"/>
                        </a:cubicBezTo>
                        <a:cubicBezTo>
                          <a:pt x="932400" y="-76956"/>
                          <a:pt x="1175110" y="63608"/>
                          <a:pt x="1355513" y="0"/>
                        </a:cubicBezTo>
                        <a:cubicBezTo>
                          <a:pt x="1535916" y="-63608"/>
                          <a:pt x="1693715" y="59913"/>
                          <a:pt x="1950036" y="0"/>
                        </a:cubicBezTo>
                        <a:cubicBezTo>
                          <a:pt x="2206357" y="-59913"/>
                          <a:pt x="2440393" y="51885"/>
                          <a:pt x="2586176" y="0"/>
                        </a:cubicBezTo>
                        <a:cubicBezTo>
                          <a:pt x="2731959" y="-51885"/>
                          <a:pt x="2897339" y="11509"/>
                          <a:pt x="3139082" y="0"/>
                        </a:cubicBezTo>
                        <a:cubicBezTo>
                          <a:pt x="3380825" y="-11509"/>
                          <a:pt x="3850267" y="92030"/>
                          <a:pt x="4161662" y="0"/>
                        </a:cubicBezTo>
                        <a:cubicBezTo>
                          <a:pt x="4193447" y="244183"/>
                          <a:pt x="4113423" y="380579"/>
                          <a:pt x="4161662" y="677756"/>
                        </a:cubicBezTo>
                        <a:cubicBezTo>
                          <a:pt x="4209901" y="974933"/>
                          <a:pt x="4133575" y="1077025"/>
                          <a:pt x="4161662" y="1189046"/>
                        </a:cubicBezTo>
                        <a:cubicBezTo>
                          <a:pt x="4189749" y="1301067"/>
                          <a:pt x="4136844" y="1473854"/>
                          <a:pt x="4161662" y="1658720"/>
                        </a:cubicBezTo>
                        <a:cubicBezTo>
                          <a:pt x="4186480" y="1843586"/>
                          <a:pt x="4102672" y="2024012"/>
                          <a:pt x="4161662" y="2170009"/>
                        </a:cubicBezTo>
                        <a:cubicBezTo>
                          <a:pt x="4220652" y="2316006"/>
                          <a:pt x="4114940" y="2588273"/>
                          <a:pt x="4161662" y="2722916"/>
                        </a:cubicBezTo>
                        <a:cubicBezTo>
                          <a:pt x="4208384" y="2857559"/>
                          <a:pt x="4135370" y="3085759"/>
                          <a:pt x="4161662" y="3317439"/>
                        </a:cubicBezTo>
                        <a:cubicBezTo>
                          <a:pt x="4187954" y="3549119"/>
                          <a:pt x="4106061" y="3795915"/>
                          <a:pt x="4161662" y="4161662"/>
                        </a:cubicBezTo>
                        <a:cubicBezTo>
                          <a:pt x="4013904" y="4228695"/>
                          <a:pt x="3630628" y="4080432"/>
                          <a:pt x="3483906" y="4161662"/>
                        </a:cubicBezTo>
                        <a:cubicBezTo>
                          <a:pt x="3337184" y="4242892"/>
                          <a:pt x="3078083" y="4157000"/>
                          <a:pt x="2889382" y="4161662"/>
                        </a:cubicBezTo>
                        <a:cubicBezTo>
                          <a:pt x="2700681" y="4166324"/>
                          <a:pt x="2475360" y="4157994"/>
                          <a:pt x="2294859" y="4161662"/>
                        </a:cubicBezTo>
                        <a:cubicBezTo>
                          <a:pt x="2114358" y="4165330"/>
                          <a:pt x="1843668" y="4160905"/>
                          <a:pt x="1700336" y="4161662"/>
                        </a:cubicBezTo>
                        <a:cubicBezTo>
                          <a:pt x="1557004" y="4162419"/>
                          <a:pt x="1243994" y="4154280"/>
                          <a:pt x="1105813" y="4161662"/>
                        </a:cubicBezTo>
                        <a:cubicBezTo>
                          <a:pt x="967632" y="4169044"/>
                          <a:pt x="828129" y="4157753"/>
                          <a:pt x="552907" y="4161662"/>
                        </a:cubicBezTo>
                        <a:cubicBezTo>
                          <a:pt x="277685" y="4165571"/>
                          <a:pt x="178676" y="4096086"/>
                          <a:pt x="0" y="4161662"/>
                        </a:cubicBezTo>
                        <a:cubicBezTo>
                          <a:pt x="-14981" y="3992741"/>
                          <a:pt x="37689" y="3797757"/>
                          <a:pt x="0" y="3567139"/>
                        </a:cubicBezTo>
                        <a:cubicBezTo>
                          <a:pt x="-37689" y="3336521"/>
                          <a:pt x="27091" y="3228718"/>
                          <a:pt x="0" y="2930999"/>
                        </a:cubicBezTo>
                        <a:cubicBezTo>
                          <a:pt x="-27091" y="2633280"/>
                          <a:pt x="43696" y="2510108"/>
                          <a:pt x="0" y="2294859"/>
                        </a:cubicBezTo>
                        <a:cubicBezTo>
                          <a:pt x="-43696" y="2079610"/>
                          <a:pt x="4052" y="1817541"/>
                          <a:pt x="0" y="1617103"/>
                        </a:cubicBezTo>
                        <a:cubicBezTo>
                          <a:pt x="-4052" y="1416665"/>
                          <a:pt x="40187" y="1175011"/>
                          <a:pt x="0" y="1022580"/>
                        </a:cubicBezTo>
                        <a:cubicBezTo>
                          <a:pt x="-40187" y="870149"/>
                          <a:pt x="26983" y="470975"/>
                          <a:pt x="0" y="0"/>
                        </a:cubicBezTo>
                        <a:close/>
                      </a:path>
                      <a:path w="4161662" h="4161662" stroke="0" extrusionOk="0">
                        <a:moveTo>
                          <a:pt x="0" y="0"/>
                        </a:moveTo>
                        <a:cubicBezTo>
                          <a:pt x="161768" y="-46457"/>
                          <a:pt x="364502" y="48232"/>
                          <a:pt x="552907" y="0"/>
                        </a:cubicBezTo>
                        <a:cubicBezTo>
                          <a:pt x="741312" y="-48232"/>
                          <a:pt x="901010" y="47903"/>
                          <a:pt x="1022580" y="0"/>
                        </a:cubicBezTo>
                        <a:cubicBezTo>
                          <a:pt x="1144150" y="-47903"/>
                          <a:pt x="1425180" y="53507"/>
                          <a:pt x="1700336" y="0"/>
                        </a:cubicBezTo>
                        <a:cubicBezTo>
                          <a:pt x="1975492" y="-53507"/>
                          <a:pt x="2028110" y="7650"/>
                          <a:pt x="2253243" y="0"/>
                        </a:cubicBezTo>
                        <a:cubicBezTo>
                          <a:pt x="2478376" y="-7650"/>
                          <a:pt x="2628386" y="50070"/>
                          <a:pt x="2806149" y="0"/>
                        </a:cubicBezTo>
                        <a:cubicBezTo>
                          <a:pt x="2983912" y="-50070"/>
                          <a:pt x="3193663" y="51605"/>
                          <a:pt x="3483906" y="0"/>
                        </a:cubicBezTo>
                        <a:cubicBezTo>
                          <a:pt x="3774149" y="-51605"/>
                          <a:pt x="3855060" y="61047"/>
                          <a:pt x="4161662" y="0"/>
                        </a:cubicBezTo>
                        <a:cubicBezTo>
                          <a:pt x="4214231" y="324916"/>
                          <a:pt x="4140513" y="417896"/>
                          <a:pt x="4161662" y="677756"/>
                        </a:cubicBezTo>
                        <a:cubicBezTo>
                          <a:pt x="4182811" y="937616"/>
                          <a:pt x="4143716" y="959576"/>
                          <a:pt x="4161662" y="1189046"/>
                        </a:cubicBezTo>
                        <a:cubicBezTo>
                          <a:pt x="4179608" y="1418516"/>
                          <a:pt x="4105787" y="1527198"/>
                          <a:pt x="4161662" y="1700336"/>
                        </a:cubicBezTo>
                        <a:cubicBezTo>
                          <a:pt x="4217537" y="1873474"/>
                          <a:pt x="4155444" y="2157875"/>
                          <a:pt x="4161662" y="2294859"/>
                        </a:cubicBezTo>
                        <a:cubicBezTo>
                          <a:pt x="4167880" y="2431843"/>
                          <a:pt x="4130736" y="2718138"/>
                          <a:pt x="4161662" y="2930999"/>
                        </a:cubicBezTo>
                        <a:cubicBezTo>
                          <a:pt x="4192588" y="3143860"/>
                          <a:pt x="4160212" y="3219224"/>
                          <a:pt x="4161662" y="3400672"/>
                        </a:cubicBezTo>
                        <a:cubicBezTo>
                          <a:pt x="4163112" y="3582120"/>
                          <a:pt x="4094120" y="3802505"/>
                          <a:pt x="4161662" y="4161662"/>
                        </a:cubicBezTo>
                        <a:cubicBezTo>
                          <a:pt x="3921811" y="4166974"/>
                          <a:pt x="3722507" y="4142918"/>
                          <a:pt x="3567139" y="4161662"/>
                        </a:cubicBezTo>
                        <a:cubicBezTo>
                          <a:pt x="3411771" y="4180406"/>
                          <a:pt x="3120016" y="4136184"/>
                          <a:pt x="2972616" y="4161662"/>
                        </a:cubicBezTo>
                        <a:cubicBezTo>
                          <a:pt x="2825216" y="4187140"/>
                          <a:pt x="2543113" y="4110598"/>
                          <a:pt x="2294859" y="4161662"/>
                        </a:cubicBezTo>
                        <a:cubicBezTo>
                          <a:pt x="2046605" y="4212726"/>
                          <a:pt x="1981969" y="4133006"/>
                          <a:pt x="1700336" y="4161662"/>
                        </a:cubicBezTo>
                        <a:cubicBezTo>
                          <a:pt x="1418703" y="4190318"/>
                          <a:pt x="1354265" y="4106015"/>
                          <a:pt x="1230663" y="4161662"/>
                        </a:cubicBezTo>
                        <a:cubicBezTo>
                          <a:pt x="1107061" y="4217309"/>
                          <a:pt x="957609" y="4118690"/>
                          <a:pt x="719373" y="4161662"/>
                        </a:cubicBezTo>
                        <a:cubicBezTo>
                          <a:pt x="481137" y="4204634"/>
                          <a:pt x="167330" y="4156625"/>
                          <a:pt x="0" y="4161662"/>
                        </a:cubicBezTo>
                        <a:cubicBezTo>
                          <a:pt x="-65854" y="3896313"/>
                          <a:pt x="16740" y="3726990"/>
                          <a:pt x="0" y="3567139"/>
                        </a:cubicBezTo>
                        <a:cubicBezTo>
                          <a:pt x="-16740" y="3407288"/>
                          <a:pt x="21521" y="3243218"/>
                          <a:pt x="0" y="2972616"/>
                        </a:cubicBezTo>
                        <a:cubicBezTo>
                          <a:pt x="-21521" y="2702014"/>
                          <a:pt x="8046" y="2679564"/>
                          <a:pt x="0" y="2419709"/>
                        </a:cubicBezTo>
                        <a:cubicBezTo>
                          <a:pt x="-8046" y="2159854"/>
                          <a:pt x="4077" y="2143863"/>
                          <a:pt x="0" y="1950036"/>
                        </a:cubicBezTo>
                        <a:cubicBezTo>
                          <a:pt x="-4077" y="1756209"/>
                          <a:pt x="49112" y="1658208"/>
                          <a:pt x="0" y="1480363"/>
                        </a:cubicBezTo>
                        <a:cubicBezTo>
                          <a:pt x="-49112" y="1302518"/>
                          <a:pt x="59946" y="1077805"/>
                          <a:pt x="0" y="844223"/>
                        </a:cubicBezTo>
                        <a:cubicBezTo>
                          <a:pt x="-59946" y="610641"/>
                          <a:pt x="86630" y="40924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</p:pic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1313244" y="4813418"/>
            <a:ext cx="4452226" cy="13756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sz="1800" b="1">
                <a:latin typeface="Noto Sans KR"/>
              </a:rPr>
              <a:t>만성질환 위험 증가</a:t>
            </a: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Noto Sans KR"/>
              </a:rPr>
              <a:t>잘못된 식습관으로 인해 </a:t>
            </a:r>
            <a:r>
              <a:rPr lang="ko-KR" altLang="en-US" sz="1400" b="1">
                <a:latin typeface="Noto Sans KR"/>
              </a:rPr>
              <a:t>고콜레스테롤혈증</a:t>
            </a:r>
            <a:r>
              <a:rPr lang="ko-KR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Noto Sans KR"/>
              </a:rPr>
              <a:t> 만성질환 유병률 증가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7" name="그림 16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D4F120A-9945-AF4B-0051-06D1126780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253" y="5080397"/>
            <a:ext cx="468000" cy="46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3" y="234292"/>
            <a:ext cx="2009318" cy="946104"/>
          </a:xfrm>
        </p:spPr>
        <p:txBody>
          <a:bodyPr>
            <a:norm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기획의도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9CA5E893-BE61-1B2C-5561-000A6EBB97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3288358" y="3758025"/>
            <a:ext cx="396000" cy="3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 descr="텍스트, 폰트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ED0E3DF-A767-B1A3-C31A-CAA6D0ADDF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1018" y="5501261"/>
            <a:ext cx="5373738" cy="1056904"/>
          </a:xfrm>
          <a:prstGeom prst="rect">
            <a:avLst/>
          </a:prstGeom>
        </p:spPr>
      </p:pic>
      <p:pic>
        <p:nvPicPr>
          <p:cNvPr id="8" name="그림 7" descr="텍스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7C0D45A7-01FB-D98F-271F-4BABD3FAA69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647" y="3955981"/>
            <a:ext cx="5372109" cy="1575819"/>
          </a:xfrm>
          <a:prstGeom prst="rect">
            <a:avLst/>
          </a:prstGeom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ED8B41D-99E1-876D-2BFC-742037A8D708}"/>
              </a:ext>
            </a:extLst>
          </p:cNvPr>
          <p:cNvCxnSpPr>
            <a:cxnSpLocks/>
          </p:cNvCxnSpPr>
          <p:nvPr/>
        </p:nvCxnSpPr>
        <p:spPr>
          <a:xfrm>
            <a:off x="6204857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1" name="그림 10">
            <a:extLst>
              <a:ext uri="{FF2B5EF4-FFF2-40B4-BE49-F238E27FC236}">
                <a16:creationId xmlns:a16="http://schemas.microsoft.com/office/drawing/2014/main" id="{D9147C75-3356-63BC-9412-754748EC52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3461" y="2908102"/>
            <a:ext cx="5373738" cy="104787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EC5012B-FC18-6B7D-F1D7-F7FC63B45BF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13462" y="1915525"/>
            <a:ext cx="5372108" cy="1073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675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5F43BA5-0951-583E-766C-8FC261381A3D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7C34BB3-C32B-9ADD-77C1-8351E456180D}"/>
              </a:ext>
            </a:extLst>
          </p:cNvPr>
          <p:cNvSpPr/>
          <p:nvPr/>
        </p:nvSpPr>
        <p:spPr>
          <a:xfrm>
            <a:off x="6436585" y="1815151"/>
            <a:ext cx="5441075" cy="440790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6DA42CF-0839-AB13-9F4C-B1358EA1A49D}"/>
              </a:ext>
            </a:extLst>
          </p:cNvPr>
          <p:cNvSpPr/>
          <p:nvPr/>
        </p:nvSpPr>
        <p:spPr>
          <a:xfrm>
            <a:off x="314329" y="1815152"/>
            <a:ext cx="5441087" cy="4407899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6609585" y="2242726"/>
            <a:ext cx="5095073" cy="4648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sz="1800" b="1">
                <a:solidFill>
                  <a:schemeClr val="bg1">
                    <a:lumMod val="95000"/>
                  </a:schemeClr>
                </a:solidFill>
                <a:latin typeface="Noto Sans KR"/>
              </a:rPr>
              <a:t>머신러닝 기반 콜레스테롤 위험도 예측 엔진 개발</a:t>
            </a:r>
            <a:endParaRPr lang="en-US" altLang="ko-KR" sz="1800" b="1">
              <a:solidFill>
                <a:schemeClr val="bg1">
                  <a:lumMod val="95000"/>
                </a:schemeClr>
              </a:solidFill>
              <a:latin typeface="Noto Sans KR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372C32-8F73-FAB9-E521-1E48EB1C7047}"/>
              </a:ext>
            </a:extLst>
          </p:cNvPr>
          <p:cNvSpPr txBox="1"/>
          <p:nvPr/>
        </p:nvSpPr>
        <p:spPr>
          <a:xfrm>
            <a:off x="6609585" y="2998112"/>
            <a:ext cx="4920745" cy="21782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통합 데이터셋 기반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고콜레스테롤</a:t>
            </a:r>
            <a:r>
              <a:rPr lang="en-US" altLang="ko-KR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발생 위험도 산출 지도학습 모델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 개발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개별 요인의 위험도 및 영향도를 정량적으로 분석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분석된 데이터에서 고콜레스테롤 위험 요인과 수치를 직관적인 인포그래픽으로 시각화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408675D1-E235-486E-65AD-299E40A1A0DE}"/>
              </a:ext>
            </a:extLst>
          </p:cNvPr>
          <p:cNvSpPr txBox="1">
            <a:spLocks/>
          </p:cNvSpPr>
          <p:nvPr/>
        </p:nvSpPr>
        <p:spPr>
          <a:xfrm>
            <a:off x="603252" y="232090"/>
            <a:ext cx="2110259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>
                <a:solidFill>
                  <a:schemeClr val="bg1"/>
                </a:solidFill>
              </a:rPr>
              <a:t>개발목표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Development Objectives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17963F5-4548-6EE0-0AF0-5D28ADF07127}"/>
              </a:ext>
            </a:extLst>
          </p:cNvPr>
          <p:cNvCxnSpPr>
            <a:cxnSpLocks/>
          </p:cNvCxnSpPr>
          <p:nvPr/>
        </p:nvCxnSpPr>
        <p:spPr>
          <a:xfrm>
            <a:off x="6096000" y="1908000"/>
            <a:ext cx="0" cy="4214194"/>
          </a:xfrm>
          <a:prstGeom prst="line">
            <a:avLst/>
          </a:prstGeom>
          <a:ln>
            <a:solidFill>
              <a:schemeClr val="dk1">
                <a:alpha val="8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7E11CF9-6752-0478-C4EE-7AFF12AF853A}"/>
              </a:ext>
            </a:extLst>
          </p:cNvPr>
          <p:cNvSpPr txBox="1"/>
          <p:nvPr/>
        </p:nvSpPr>
        <p:spPr>
          <a:xfrm>
            <a:off x="603252" y="2998112"/>
            <a:ext cx="4972211" cy="3039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국민건강영양조사 식품섭취조사 데이터 활용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,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개인별 </a:t>
            </a:r>
            <a:r>
              <a:rPr lang="en-US" altLang="ko-KR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1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일 영양소 섭취량 산출 체계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 수립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연령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/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성별 표준 섭취량 대비 비율 및 섭취 균형도를 수치화한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영양 패턴 지표</a:t>
            </a:r>
            <a:r>
              <a:rPr lang="en-US" altLang="ko-KR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생성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식습관 정보에 인구사회학적 요소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(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소득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교육 등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),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생활습관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(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운동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흡연 등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)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을 결합하여 분석 데이터의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상관관계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분석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79F87A-CFA9-9020-A18E-9860BACEC567}"/>
              </a:ext>
            </a:extLst>
          </p:cNvPr>
          <p:cNvSpPr txBox="1"/>
          <p:nvPr/>
        </p:nvSpPr>
        <p:spPr>
          <a:xfrm>
            <a:off x="773222" y="2242726"/>
            <a:ext cx="4523296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>
                <a:solidFill>
                  <a:schemeClr val="bg1">
                    <a:lumMod val="95000"/>
                  </a:schemeClr>
                </a:solidFill>
                <a:latin typeface="Noto Sans KR"/>
              </a:rPr>
              <a:t>다차원 복합 요인 기반 정밀 데이터셋 구축</a:t>
            </a:r>
            <a:endParaRPr lang="ko-KR" altLang="en-US" b="1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00052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EFBB337-B530-64AE-493F-26C1184D6BC6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E6B21E77-88D1-0F37-CAD7-BE7EC7FC1682}"/>
              </a:ext>
            </a:extLst>
          </p:cNvPr>
          <p:cNvSpPr txBox="1">
            <a:spLocks/>
          </p:cNvSpPr>
          <p:nvPr/>
        </p:nvSpPr>
        <p:spPr>
          <a:xfrm>
            <a:off x="603253" y="234000"/>
            <a:ext cx="2883105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>
                <a:solidFill>
                  <a:schemeClr val="bg1"/>
                </a:solidFill>
              </a:rPr>
              <a:t>개발 스케줄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Development Schedule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3E47092-7530-6E9D-2551-F0A4B2C890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" y="2189341"/>
            <a:ext cx="11690350" cy="3540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103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E71911F-795E-955F-950B-60464C6202D5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E6B21E77-88D1-0F37-CAD7-BE7EC7FC1682}"/>
              </a:ext>
            </a:extLst>
          </p:cNvPr>
          <p:cNvSpPr txBox="1">
            <a:spLocks/>
          </p:cNvSpPr>
          <p:nvPr/>
        </p:nvSpPr>
        <p:spPr>
          <a:xfrm>
            <a:off x="603253" y="234000"/>
            <a:ext cx="2883105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>
                <a:solidFill>
                  <a:schemeClr val="bg1"/>
                </a:solidFill>
              </a:rPr>
              <a:t>화면 설계서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Wireframe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10738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E71911F-795E-955F-950B-60464C6202D5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E6B21E77-88D1-0F37-CAD7-BE7EC7FC1682}"/>
              </a:ext>
            </a:extLst>
          </p:cNvPr>
          <p:cNvSpPr txBox="1">
            <a:spLocks/>
          </p:cNvSpPr>
          <p:nvPr/>
        </p:nvSpPr>
        <p:spPr>
          <a:xfrm>
            <a:off x="603253" y="234000"/>
            <a:ext cx="2883105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>
                <a:solidFill>
                  <a:schemeClr val="bg1"/>
                </a:solidFill>
              </a:rPr>
              <a:t>화면 설계서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Wireframe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11595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E71911F-795E-955F-950B-60464C6202D5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E6B21E77-88D1-0F37-CAD7-BE7EC7FC1682}"/>
              </a:ext>
            </a:extLst>
          </p:cNvPr>
          <p:cNvSpPr txBox="1">
            <a:spLocks/>
          </p:cNvSpPr>
          <p:nvPr/>
        </p:nvSpPr>
        <p:spPr>
          <a:xfrm>
            <a:off x="603253" y="234000"/>
            <a:ext cx="2883105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>
                <a:solidFill>
                  <a:schemeClr val="bg1"/>
                </a:solidFill>
              </a:rPr>
              <a:t>화면 설계서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Wireframe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1084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1721</TotalTime>
  <Words>302</Words>
  <Application>Microsoft Office PowerPoint</Application>
  <PresentationFormat>와이드스크린</PresentationFormat>
  <Paragraphs>39</Paragraphs>
  <Slides>10</Slides>
  <Notes>0</Notes>
  <HiddenSlides>2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7" baseType="lpstr">
      <vt:lpstr>Noto Sans KR</vt:lpstr>
      <vt:lpstr>맑은 고딕</vt:lpstr>
      <vt:lpstr>맑은 고딕</vt:lpstr>
      <vt:lpstr>Aptos</vt:lpstr>
      <vt:lpstr>Aptos Display</vt:lpstr>
      <vt:lpstr>Arial</vt:lpstr>
      <vt:lpstr>Office 테마</vt:lpstr>
      <vt:lpstr>영양소 섭취 기반 고콜레스테롤혈증 위험도 예측 및 맞춤형 식습관 개선 가이드 모델</vt:lpstr>
      <vt:lpstr>기획의도 Background &amp; Purpose</vt:lpstr>
      <vt:lpstr>기획의도 Background &amp; Purpose</vt:lpstr>
      <vt:lpstr>기획의도 Background &amp; Purpose</vt:lpstr>
      <vt:lpstr>기획의도 Background &amp; Purpose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승찬 이</cp:lastModifiedBy>
  <cp:revision>65</cp:revision>
  <dcterms:created xsi:type="dcterms:W3CDTF">2026-03-13T06:49:36Z</dcterms:created>
  <dcterms:modified xsi:type="dcterms:W3CDTF">2026-03-19T17:09:14Z</dcterms:modified>
</cp:coreProperties>
</file>