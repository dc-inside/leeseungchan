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282" r:id="rId3"/>
    <p:sldId id="283" r:id="rId4"/>
    <p:sldId id="284" r:id="rId5"/>
    <p:sldId id="285" r:id="rId6"/>
    <p:sldId id="286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94B86E-5D11-354F-F46D-27961B7E18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82E6283-B697-5B49-65DE-C859F4C80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C9EAE6-3E47-4723-28A6-8A0FC5C47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ACAEB0-4FCE-EDD6-CF10-8DA15265E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CA0208-ABB1-F8A9-F9B7-F95731D9B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6589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263F81-E8F4-8FB8-E37A-5177A2E8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4C5831-5DDE-795D-5AF8-6DA2643EB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897E0-EEF3-36B9-7B5A-27D2ED24A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0DE532D-537C-EB1F-5E2A-5918B53A5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0CF130-DA82-D124-7071-EEE3C4C7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361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EE89FB-3041-74D2-E555-A95016295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EA9233D-C8FC-58EA-932C-24EA0BC50E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03204B-83E8-D071-E478-CCA6F5849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367EDB-5846-9C90-28BC-E3970C364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2DC4A0-20B0-459C-7FD2-563AFD46B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1607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C9B508-15AE-45CE-F16E-53E1EA46C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5E3924-0346-5A0B-6E08-F34FF852FA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CCF50E0-6207-A388-D3AE-3345C53EF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964429-D0F3-E358-71AC-A3806A8CE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3A03A3-05A3-5644-5822-D651A863B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3F6EC2D-8CEB-8FDE-D9CA-F76A8CDCB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798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678524-70FA-B259-0B58-62402F6D5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2585AA-A065-FB64-667A-EB4A47E9FC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9A9EF33-90AB-1726-473F-D3EDFED1C8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23C89B7-1F4B-1FE5-72BE-C4E7E7E2F9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C942FB7-0177-CEDA-5775-B56CC30A07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A6DC5C7-0680-F2C1-35A4-A1297EB52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3AF15F8-FB08-EFA4-FF05-78F362CC8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B764F92-02A8-559F-875B-E133E9A07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082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CD36C4-600F-C421-6ABC-1167A9882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BBB0A65-1283-5971-23F7-8AE298BC2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0957244-64DA-B549-469D-8D20A24AF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474C08-1482-B020-89F2-7BF626EDE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966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0033F8-21FE-ACB7-27BA-0FFA139C6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10D8D25-5E96-D921-BAF0-3708AF858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0EB170-BCFE-FF2A-BF12-9824CF115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0147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233562-A158-2965-B802-50CBB6481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7FF432-363A-7DB1-A4D3-AA06D2F94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F357E4D-69B0-D6B6-2AA4-64D2AE98CB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C5CAA3-B380-C0FD-2A58-4CA07EBE0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7269B2-FBF3-5001-0F38-9F50E19D8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B0BB5F-8571-8BE3-0D99-41B94670F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5394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52426-6BCF-14D2-E1E6-881CC6BEA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EE58CCD-D50B-4778-31C7-17800BAA12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9CF0AD0-FF39-44B8-231D-CB7F73F7DC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042F69F-9F9A-A2BA-AF81-0CFA410B1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81548A-AC43-8672-3057-3AFBBAF11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27A2F54-1C32-F1CF-D8B3-C800AEAE7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4800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8706CE-ADE8-B9FB-5F22-A20139555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A477B7C-22A7-ABA5-D825-FCCE32CB63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75E423-0019-7F9D-71F2-B564366AD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93BB32-F212-4D36-7B95-C4322063B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C33F0F-375D-D6A7-D5F7-1EA9A1BA2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555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C0DB972-E8A5-3AFF-EEB2-3F3493C9AE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DBBDED2-B200-899E-6E76-600EEDA24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804D68-661E-2068-8AA4-D85B4B28E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E833D-714E-4D65-B923-5C68908BA676}" type="datetimeFigureOut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2F9F77-1413-D68D-069A-0CB45A10C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DBBB41-988C-B07B-6C35-4FF91DF60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963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54D271-4FC5-1D2B-4C48-32B8D49F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9F05D7-4858-0257-A0BF-24222A1212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512F1F-7225-E0C7-0961-53698EFE7D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6E833D-714E-4D65-B923-5C68908BA676}" type="datetimeFigureOut">
              <a:rPr lang="ko-KR" altLang="en-US" smtClean="0"/>
              <a:t>2026-04-10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B2F9A5-4A20-3295-ED67-2AABE0F395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08306C-1E3B-7434-6C34-B242AF9CA1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A2BA60-4E5F-4D1E-AE51-DBE655137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012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실내, 벽, 가구, 인테리어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8207204-0CDA-0EAB-2C4B-4292E2476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000" y="1825222"/>
            <a:ext cx="7349031" cy="4447008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827434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main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UI-main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2026.04.09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main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6166798"/>
              </p:ext>
            </p:extLst>
          </p:nvPr>
        </p:nvGraphicFramePr>
        <p:xfrm>
          <a:off x="9221188" y="826547"/>
          <a:ext cx="2607296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로고</a:t>
                      </a:r>
                      <a:r>
                        <a:rPr lang="en-US" altLang="ko-KR" sz="1200"/>
                        <a:t>. </a:t>
                      </a:r>
                      <a:r>
                        <a:rPr lang="ko-KR" altLang="en-US" sz="1200"/>
                        <a:t>메인페이지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미리 예측한 사용자의 </a:t>
                      </a:r>
                      <a:r>
                        <a:rPr lang="en-US" altLang="ko-KR" sz="1200"/>
                        <a:t>ID </a:t>
                      </a:r>
                      <a:r>
                        <a:rPr lang="ko-KR" altLang="en-US" sz="1200"/>
                        <a:t>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/>
                        <a:t>2</a:t>
                      </a:r>
                      <a:r>
                        <a:rPr lang="ko-KR" altLang="en-US" sz="1200"/>
                        <a:t>번에서 입력한 </a:t>
                      </a:r>
                      <a:r>
                        <a:rPr lang="en-US" altLang="ko-KR" sz="1200"/>
                        <a:t>ID </a:t>
                      </a:r>
                      <a:r>
                        <a:rPr lang="ko-KR" altLang="en-US" sz="1200"/>
                        <a:t>조회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신규 사용자는 예측 데이터 입력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643079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r>
                        <a:rPr lang="ko-KR" altLang="en-US" sz="1200"/>
                        <a:t>번 입력하고 </a:t>
                      </a:r>
                      <a:r>
                        <a:rPr lang="en-US" altLang="ko-KR" sz="1200"/>
                        <a:t>3</a:t>
                      </a:r>
                      <a:r>
                        <a:rPr lang="ko-KR" altLang="en-US" sz="1200"/>
                        <a:t>번 누르면 해당 </a:t>
                      </a:r>
                      <a:r>
                        <a:rPr lang="en-US" altLang="ko-KR" sz="1200"/>
                        <a:t>ID</a:t>
                      </a:r>
                      <a:r>
                        <a:rPr lang="ko-KR" altLang="en-US" sz="1200"/>
                        <a:t>의 사용자 데이터 결과 페이지로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486421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2113534" y="2176701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A3BB0EB-242E-A779-AFF3-0102738FDD5E}"/>
              </a:ext>
            </a:extLst>
          </p:cNvPr>
          <p:cNvSpPr>
            <a:spLocks noChangeAspect="1"/>
          </p:cNvSpPr>
          <p:nvPr/>
        </p:nvSpPr>
        <p:spPr>
          <a:xfrm>
            <a:off x="6357552" y="2176701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0C34912-9764-30A1-077E-DC0388AA7999}"/>
              </a:ext>
            </a:extLst>
          </p:cNvPr>
          <p:cNvSpPr>
            <a:spLocks noChangeAspect="1"/>
          </p:cNvSpPr>
          <p:nvPr/>
        </p:nvSpPr>
        <p:spPr>
          <a:xfrm>
            <a:off x="7220709" y="2176701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4645F31-AEAE-E037-7697-747173F0D5E0}"/>
              </a:ext>
            </a:extLst>
          </p:cNvPr>
          <p:cNvSpPr>
            <a:spLocks noChangeAspect="1"/>
          </p:cNvSpPr>
          <p:nvPr/>
        </p:nvSpPr>
        <p:spPr>
          <a:xfrm>
            <a:off x="7789370" y="2177911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3467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소프트웨어, 컴퓨터 아이콘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E3BC58B-D548-E5EA-CF2D-4D872053AE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745672"/>
            <a:ext cx="8641587" cy="4862946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733415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Predict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UI-predict_1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2026.04.09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main - predict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1102460"/>
              </p:ext>
            </p:extLst>
          </p:nvPr>
        </p:nvGraphicFramePr>
        <p:xfrm>
          <a:off x="9221188" y="826547"/>
          <a:ext cx="2607296" cy="276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성별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연령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가구소득분위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신장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체중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다음 정보 입력으로 넘어감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643079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위에 </a:t>
                      </a:r>
                      <a:r>
                        <a:rPr lang="en-US" altLang="ko-KR" sz="1200"/>
                        <a:t>Look up, Predict</a:t>
                      </a:r>
                      <a:r>
                        <a:rPr lang="ko-KR" altLang="en-US" sz="1200"/>
                        <a:t>는 메인 페이지의 기능과 동일</a:t>
                      </a:r>
                      <a:endParaRPr lang="en-US" altLang="ko-KR" sz="1200"/>
                    </a:p>
                    <a:p>
                      <a:pPr algn="ctr" latinLnBrk="1"/>
                      <a:r>
                        <a:rPr lang="en-US" altLang="ko-KR" sz="1200"/>
                        <a:t>BMI</a:t>
                      </a:r>
                      <a:r>
                        <a:rPr lang="ko-KR" altLang="en-US" sz="1200"/>
                        <a:t>수치는 입력받은 신장과 체중 값으로 자동 계산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486421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6978071" y="5642139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927301E-47D9-D7C6-EBF6-3EEBDCE32BE6}"/>
              </a:ext>
            </a:extLst>
          </p:cNvPr>
          <p:cNvSpPr>
            <a:spLocks noChangeAspect="1"/>
          </p:cNvSpPr>
          <p:nvPr/>
        </p:nvSpPr>
        <p:spPr>
          <a:xfrm>
            <a:off x="1229323" y="3184753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18207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직사각형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CA43BA6-EF96-A900-FBF2-6F9942429E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757546"/>
            <a:ext cx="8639999" cy="4862053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411351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Predict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UI-predict_2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2026.04.09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main - predict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583924"/>
              </p:ext>
            </p:extLst>
          </p:nvPr>
        </p:nvGraphicFramePr>
        <p:xfrm>
          <a:off x="9221188" y="826547"/>
          <a:ext cx="2607296" cy="319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이전 정보 입력으로 넘어감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/>
                        <a:t>다음 정보 입력으로 넘어감</a:t>
                      </a:r>
                    </a:p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7494998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643079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/>
                        <a:t>위에 </a:t>
                      </a:r>
                      <a:r>
                        <a:rPr lang="en-US" altLang="ko-KR" sz="1200"/>
                        <a:t>Look up, Predict</a:t>
                      </a:r>
                      <a:r>
                        <a:rPr lang="ko-KR" altLang="en-US" sz="1200"/>
                        <a:t>는 메인 페이지의 기능과 동일</a:t>
                      </a:r>
                    </a:p>
                    <a:p>
                      <a:pPr algn="ctr" latinLnBrk="1"/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486421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7138388" y="5983952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927301E-47D9-D7C6-EBF6-3EEBDCE32BE6}"/>
              </a:ext>
            </a:extLst>
          </p:cNvPr>
          <p:cNvSpPr>
            <a:spLocks noChangeAspect="1"/>
          </p:cNvSpPr>
          <p:nvPr/>
        </p:nvSpPr>
        <p:spPr>
          <a:xfrm>
            <a:off x="1229323" y="3184753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D4E14AD0-C0F5-B974-6574-7EBB78BAB894}"/>
              </a:ext>
            </a:extLst>
          </p:cNvPr>
          <p:cNvSpPr>
            <a:spLocks noChangeAspect="1"/>
          </p:cNvSpPr>
          <p:nvPr/>
        </p:nvSpPr>
        <p:spPr>
          <a:xfrm>
            <a:off x="1229323" y="5983952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23196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소프트웨어, 컴퓨터 아이콘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8C42CA7-6E1F-9999-9906-824F65D2A3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728382"/>
            <a:ext cx="8640000" cy="4862054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4417462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Predict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UI-predict_3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2026.04.09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main - predict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9317801"/>
              </p:ext>
            </p:extLst>
          </p:nvPr>
        </p:nvGraphicFramePr>
        <p:xfrm>
          <a:off x="9221188" y="826547"/>
          <a:ext cx="2607296" cy="319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근력운동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유산소운동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수면시간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흡연여부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음주빈도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이전 정보 입력으로 넘어감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/>
                        <a:t>입력 데이터 기반 예측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7494998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643079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/>
                        <a:t>위에 </a:t>
                      </a:r>
                      <a:r>
                        <a:rPr lang="en-US" altLang="ko-KR" sz="1200"/>
                        <a:t>Look up, Predict</a:t>
                      </a:r>
                      <a:r>
                        <a:rPr lang="ko-KR" altLang="en-US" sz="1200"/>
                        <a:t>는 메인 페이지의 기능과 동일</a:t>
                      </a:r>
                    </a:p>
                    <a:p>
                      <a:pPr algn="ctr" latinLnBrk="1"/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486421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6794004" y="5869453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927301E-47D9-D7C6-EBF6-3EEBDCE32BE6}"/>
              </a:ext>
            </a:extLst>
          </p:cNvPr>
          <p:cNvSpPr>
            <a:spLocks noChangeAspect="1"/>
          </p:cNvSpPr>
          <p:nvPr/>
        </p:nvSpPr>
        <p:spPr>
          <a:xfrm>
            <a:off x="1229323" y="3105000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D4E14AD0-C0F5-B974-6574-7EBB78BAB894}"/>
              </a:ext>
            </a:extLst>
          </p:cNvPr>
          <p:cNvSpPr>
            <a:spLocks noChangeAspect="1"/>
          </p:cNvSpPr>
          <p:nvPr/>
        </p:nvSpPr>
        <p:spPr>
          <a:xfrm>
            <a:off x="1229323" y="5869453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455359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61A098B-3AEA-169C-0B6F-593FC1BCF6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002" y="1781297"/>
            <a:ext cx="8637486" cy="4857009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330369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Result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UI-result_1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2026.04.09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main - predict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8787063"/>
              </p:ext>
            </p:extLst>
          </p:nvPr>
        </p:nvGraphicFramePr>
        <p:xfrm>
          <a:off x="9221188" y="826547"/>
          <a:ext cx="2607296" cy="481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사용자 입력 데이터 저장 </a:t>
                      </a:r>
                      <a:r>
                        <a:rPr lang="en-US" altLang="ko-KR" sz="1200"/>
                        <a:t>ID</a:t>
                      </a:r>
                    </a:p>
                    <a:p>
                      <a:pPr algn="l" latinLnBrk="1"/>
                      <a:r>
                        <a:rPr lang="ko-KR" altLang="en-US" sz="1200"/>
                        <a:t>상단 </a:t>
                      </a:r>
                      <a:r>
                        <a:rPr lang="en-US" altLang="ko-KR" sz="1200"/>
                        <a:t>Analysis ID</a:t>
                      </a:r>
                      <a:r>
                        <a:rPr lang="ko-KR" altLang="en-US" sz="1200"/>
                        <a:t>로 조회 가능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사용자 입력 데이터 예측 결과 그래프</a:t>
                      </a:r>
                      <a:endParaRPr lang="en-US" altLang="ko-KR" sz="1200"/>
                    </a:p>
                    <a:p>
                      <a:pPr algn="l" latinLnBrk="1"/>
                      <a:r>
                        <a:rPr lang="en-US" altLang="ko-KR" sz="1200"/>
                        <a:t>class0 – </a:t>
                      </a:r>
                      <a:r>
                        <a:rPr lang="ko-KR" altLang="en-US" sz="1200"/>
                        <a:t>정상</a:t>
                      </a:r>
                      <a:r>
                        <a:rPr lang="en-US" altLang="ko-KR" sz="1200"/>
                        <a:t>, class1 – </a:t>
                      </a:r>
                      <a:r>
                        <a:rPr lang="ko-KR" altLang="en-US" sz="1200"/>
                        <a:t>경계</a:t>
                      </a:r>
                      <a:r>
                        <a:rPr lang="en-US" altLang="ko-KR" sz="1200"/>
                        <a:t>, class2 - </a:t>
                      </a:r>
                      <a:r>
                        <a:rPr lang="ko-KR" altLang="en-US" sz="1200"/>
                        <a:t>위험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/>
                        <a:t>입력 데이터 수정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7494998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/>
                        <a:t>개별 영양소별 입력수치와 적정수치 비교 그래프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24499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5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/>
                        <a:t>화살표를 눌러 다른 영양소 그래프 확인 가능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091043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643079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/>
                        <a:t>위에 </a:t>
                      </a:r>
                      <a:r>
                        <a:rPr lang="en-US" altLang="ko-KR" sz="1200"/>
                        <a:t>Look up, Predict</a:t>
                      </a:r>
                      <a:r>
                        <a:rPr lang="ko-KR" altLang="en-US" sz="1200"/>
                        <a:t>는 메인 페이지의 기능과 동일</a:t>
                      </a:r>
                    </a:p>
                    <a:p>
                      <a:pPr algn="ctr" latinLnBrk="1"/>
                      <a:r>
                        <a:rPr lang="ko-KR" altLang="en-US" sz="1200"/>
                        <a:t>아래로 스크롤해 상세 데이터 확인 가능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486421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6218050" y="2823433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927301E-47D9-D7C6-EBF6-3EEBDCE32BE6}"/>
              </a:ext>
            </a:extLst>
          </p:cNvPr>
          <p:cNvSpPr>
            <a:spLocks noChangeAspect="1"/>
          </p:cNvSpPr>
          <p:nvPr/>
        </p:nvSpPr>
        <p:spPr>
          <a:xfrm>
            <a:off x="962128" y="2424587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D4E14AD0-C0F5-B974-6574-7EBB78BAB894}"/>
              </a:ext>
            </a:extLst>
          </p:cNvPr>
          <p:cNvSpPr>
            <a:spLocks noChangeAspect="1"/>
          </p:cNvSpPr>
          <p:nvPr/>
        </p:nvSpPr>
        <p:spPr>
          <a:xfrm>
            <a:off x="962128" y="4699734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8187DEF-3384-550D-8C48-ECFE9D1C26D8}"/>
              </a:ext>
            </a:extLst>
          </p:cNvPr>
          <p:cNvSpPr>
            <a:spLocks noChangeAspect="1"/>
          </p:cNvSpPr>
          <p:nvPr/>
        </p:nvSpPr>
        <p:spPr>
          <a:xfrm>
            <a:off x="7308600" y="4293994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5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55901E0-447B-8A52-8C8D-16645C03869B}"/>
              </a:ext>
            </a:extLst>
          </p:cNvPr>
          <p:cNvSpPr>
            <a:spLocks noChangeAspect="1"/>
          </p:cNvSpPr>
          <p:nvPr/>
        </p:nvSpPr>
        <p:spPr>
          <a:xfrm>
            <a:off x="962128" y="3664602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10167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번호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1D1F5B9-061A-6022-67AB-BF36CA686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753189"/>
            <a:ext cx="8640000" cy="4861428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838499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Result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UI-result_2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2026.04.09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main - predict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425267"/>
              </p:ext>
            </p:extLst>
          </p:nvPr>
        </p:nvGraphicFramePr>
        <p:xfrm>
          <a:off x="9221188" y="826547"/>
          <a:ext cx="2607296" cy="276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사용자 입력 데이터 저장 </a:t>
                      </a:r>
                      <a:r>
                        <a:rPr lang="en-US" altLang="ko-KR" sz="1200"/>
                        <a:t>ID</a:t>
                      </a:r>
                    </a:p>
                    <a:p>
                      <a:pPr algn="l" latinLnBrk="1"/>
                      <a:r>
                        <a:rPr lang="ko-KR" altLang="en-US" sz="1200"/>
                        <a:t>상단 </a:t>
                      </a:r>
                      <a:r>
                        <a:rPr lang="en-US" altLang="ko-KR" sz="1200"/>
                        <a:t>Analysis ID</a:t>
                      </a:r>
                      <a:r>
                        <a:rPr lang="ko-KR" altLang="en-US" sz="1200"/>
                        <a:t>로 조회 가능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사용자 입력 데이터 예측 결과 그래프</a:t>
                      </a:r>
                      <a:endParaRPr lang="en-US" altLang="ko-KR" sz="1200"/>
                    </a:p>
                    <a:p>
                      <a:pPr algn="l" latinLnBrk="1"/>
                      <a:r>
                        <a:rPr lang="en-US" altLang="ko-KR" sz="1200"/>
                        <a:t>class0 – </a:t>
                      </a:r>
                      <a:r>
                        <a:rPr lang="ko-KR" altLang="en-US" sz="1200"/>
                        <a:t>정상</a:t>
                      </a:r>
                      <a:r>
                        <a:rPr lang="en-US" altLang="ko-KR" sz="1200"/>
                        <a:t>, class1 – </a:t>
                      </a:r>
                      <a:r>
                        <a:rPr lang="ko-KR" altLang="en-US" sz="1200"/>
                        <a:t>경계</a:t>
                      </a:r>
                      <a:r>
                        <a:rPr lang="en-US" altLang="ko-KR" sz="1200"/>
                        <a:t>, class2 - </a:t>
                      </a:r>
                      <a:r>
                        <a:rPr lang="ko-KR" altLang="en-US" sz="1200"/>
                        <a:t>위험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643079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/>
                        <a:t>위에 </a:t>
                      </a:r>
                      <a:r>
                        <a:rPr lang="en-US" altLang="ko-KR" sz="1200"/>
                        <a:t>Look up, Predict</a:t>
                      </a:r>
                      <a:r>
                        <a:rPr lang="ko-KR" altLang="en-US" sz="1200"/>
                        <a:t>는 메인 페이지의 기능과 동일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486421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4901822" y="2397604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D4E14AD0-C0F5-B974-6574-7EBB78BAB894}"/>
              </a:ext>
            </a:extLst>
          </p:cNvPr>
          <p:cNvSpPr>
            <a:spLocks noChangeAspect="1"/>
          </p:cNvSpPr>
          <p:nvPr/>
        </p:nvSpPr>
        <p:spPr>
          <a:xfrm>
            <a:off x="2885634" y="2400647"/>
            <a:ext cx="324000" cy="324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28151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378</Words>
  <Application>Microsoft Office PowerPoint</Application>
  <PresentationFormat>와이드스크린</PresentationFormat>
  <Paragraphs>141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4</cp:revision>
  <dcterms:created xsi:type="dcterms:W3CDTF">2026-03-27T02:16:00Z</dcterms:created>
  <dcterms:modified xsi:type="dcterms:W3CDTF">2026-04-10T04:00:56Z</dcterms:modified>
</cp:coreProperties>
</file>