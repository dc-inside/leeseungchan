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61" r:id="rId3"/>
    <p:sldId id="277" r:id="rId4"/>
    <p:sldId id="270" r:id="rId5"/>
    <p:sldId id="259" r:id="rId6"/>
    <p:sldId id="281" r:id="rId7"/>
    <p:sldId id="282" r:id="rId8"/>
    <p:sldId id="283" r:id="rId9"/>
    <p:sldId id="28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7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설계서" id="{E4806D9E-3AD0-4089-A3C6-C15EABD6A583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039" y="1145969"/>
            <a:ext cx="4943918" cy="1689555"/>
          </a:xfrm>
        </p:spPr>
        <p:txBody>
          <a:bodyPr>
            <a:noAutofit/>
          </a:bodyPr>
          <a:lstStyle/>
          <a:p>
            <a:pPr algn="ctr" latinLnBrk="0">
              <a:lnSpc>
                <a:spcPct val="150000"/>
              </a:lnSpc>
            </a:pPr>
            <a: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  <a:t>영양소 섭취 기반 </a:t>
            </a:r>
            <a:r>
              <a:rPr lang="ko-KR" altLang="en-US" sz="2400" b="1" i="0" dirty="0" err="1">
                <a:solidFill>
                  <a:schemeClr val="bg1"/>
                </a:solidFill>
                <a:effectLst/>
                <a:latin typeface="Noto Sans KR"/>
              </a:rPr>
              <a:t>고콜레스테롤혈증</a:t>
            </a:r>
            <a: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  <a:t> 위험도 예측 및</a:t>
            </a:r>
            <a:b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</a:br>
            <a:r>
              <a:rPr lang="ko-KR" altLang="en-US" sz="2400" b="1" i="0" dirty="0">
                <a:solidFill>
                  <a:schemeClr val="bg1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862FC6-D248-4F10-F70D-E5710D1B325A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7" y="2631000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외식 및 가공식품 섭취 빈도 증가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endParaRPr lang="en-US" altLang="ko-KR" sz="14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ans KR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지방</a:t>
            </a:r>
            <a:r>
              <a:rPr lang="en-US" altLang="ko-KR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나트륨</a:t>
            </a:r>
            <a:r>
              <a:rPr lang="en-US" altLang="ko-KR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Noto Sans KR"/>
              </a:rPr>
              <a:t>당류 과잉섭취 일상화</a:t>
            </a:r>
            <a:endParaRPr lang="ko-KR" alt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87460" y="4670106"/>
            <a:ext cx="3850221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잘못된 식습관으로 인한</a:t>
            </a:r>
            <a:endParaRPr lang="en-US" altLang="ko-KR" sz="1400">
              <a:solidFill>
                <a:schemeClr val="tx1">
                  <a:lumMod val="65000"/>
                  <a:lumOff val="35000"/>
                </a:schemeClr>
              </a:solidFill>
              <a:latin typeface="Noto Sans KR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/>
              </a:rPr>
              <a:t>고콜레스테롤혈증 만성질환 유병률 증가</a:t>
            </a:r>
            <a:endParaRPr lang="ko-KR" altLang="en-US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89058" y="3873937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그림 6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5911AD8-7656-D881-A124-7493626DD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5468106"/>
            <a:ext cx="5968686" cy="1193737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591396A-9BEA-DDB6-E92C-B999E1AB0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3690022"/>
            <a:ext cx="5974567" cy="1752540"/>
          </a:xfrm>
          <a:prstGeom prst="rect">
            <a:avLst/>
          </a:prstGeom>
        </p:spPr>
      </p:pic>
      <p:pic>
        <p:nvPicPr>
          <p:cNvPr id="11" name="그림 10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A37FBE-1B79-0C8E-CCFC-8E9EDC22DC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2576966"/>
            <a:ext cx="5974566" cy="1193737"/>
          </a:xfrm>
          <a:prstGeom prst="rect">
            <a:avLst/>
          </a:prstGeom>
        </p:spPr>
      </p:pic>
      <p:pic>
        <p:nvPicPr>
          <p:cNvPr id="19" name="그림 18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07E56B8-2817-C9FE-115E-B032A85950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5" y="1492335"/>
            <a:ext cx="5974565" cy="108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E100E88-53CB-58F7-589A-85345C67DA7C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9" y="2628647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이상지질혈증 검사주기 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4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(2018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 조정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chemeClr val="tx1">
                    <a:lumMod val="85000"/>
                    <a:lumOff val="15000"/>
                  </a:schemeClr>
                </a:solidFill>
              </a:rPr>
              <a:t>검사주기가 길어 조기 대처 어려움</a:t>
            </a:r>
            <a:endParaRPr lang="ko-KR" altLang="en-US" sz="16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799240" y="4717227"/>
            <a:ext cx="3575640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개인마다 다른 관리 특성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(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성별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나이 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solidFill>
                  <a:schemeClr val="tx1">
                    <a:lumMod val="85000"/>
                    <a:lumOff val="15000"/>
                  </a:schemeClr>
                </a:solidFill>
                <a:latin typeface="Noto Sans KR"/>
              </a:rPr>
              <a:t>개인별 맞춤 관리 가이드 필요</a:t>
            </a:r>
            <a:endParaRPr lang="en-US" altLang="ko-KR" sz="1600" b="1">
              <a:solidFill>
                <a:schemeClr val="tx1">
                  <a:lumMod val="85000"/>
                  <a:lumOff val="15000"/>
                </a:schemeClr>
              </a:solidFill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그림 9" descr="텍스트, 폰트, 스크린샷, 화이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8F1AE-2535-C086-85FF-13648D650D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4805543"/>
            <a:ext cx="5121554" cy="1392647"/>
          </a:xfrm>
          <a:prstGeom prst="rect">
            <a:avLst/>
          </a:prstGeom>
        </p:spPr>
      </p:pic>
      <p:pic>
        <p:nvPicPr>
          <p:cNvPr id="14" name="그림 13" descr="텍스트, 폰트, 스크린샷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E14F6A6-2746-F634-423E-B26B1218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3324310"/>
            <a:ext cx="5121553" cy="1481233"/>
          </a:xfrm>
          <a:prstGeom prst="rect">
            <a:avLst/>
          </a:prstGeom>
        </p:spPr>
      </p:pic>
      <p:pic>
        <p:nvPicPr>
          <p:cNvPr id="17" name="그림 16" descr="텍스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026F65-1B13-3798-E2A4-D0BEE936F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1" y="1915525"/>
            <a:ext cx="5121553" cy="140775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D60B9FC-7435-EF43-5B54-C230574E2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43547" y="3837937"/>
            <a:ext cx="487026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1346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>
                  <a:lumMod val="95000"/>
                </a:schemeClr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3144078"/>
            <a:ext cx="4920745" cy="174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 기반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발생 위험도 산출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 위험도 및 영향도 분석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정량적 데이터에서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고콜레스테롤 위험 요인과 수치 제공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110259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개발목표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2998112"/>
            <a:ext cx="4972211" cy="2609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개인별 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1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일 영양소 섭취량 산출 체계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수립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 비율 및 섭취 균형도를 수치화한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사회경제적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상관관계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773222" y="2242726"/>
            <a:ext cx="4523296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다차원 복합 요인 기반 정밀 데이터셋 구축</a:t>
            </a:r>
            <a:endParaRPr lang="ko-KR" altLang="en-US" b="1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 스케줄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4D579A6-50E3-3440-BFBB-E4446852B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07" y="2210598"/>
            <a:ext cx="11384186" cy="344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29641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5865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UI-Input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271241"/>
              </p:ext>
            </p:extLst>
          </p:nvPr>
        </p:nvGraphicFramePr>
        <p:xfrm>
          <a:off x="9221188" y="826547"/>
          <a:ext cx="2607296" cy="37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643079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‘</a:t>
                      </a:r>
                      <a:r>
                        <a:rPr lang="ko-KR" altLang="en-US" sz="1200"/>
                        <a:t>분석 결과 확인하기</a:t>
                      </a:r>
                      <a:r>
                        <a:rPr lang="en-US" altLang="ko-KR" sz="1200"/>
                        <a:t>’</a:t>
                      </a:r>
                      <a:r>
                        <a:rPr lang="ko-KR" altLang="en-US" sz="1200"/>
                        <a:t>를 눌러 입력 데이터에 대한 결과 페이지로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486421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3467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스크린샷, 폰트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B42D041-C1E9-D3B8-368E-3B76ECA64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40159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105803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3821124"/>
              </p:ext>
            </p:extLst>
          </p:nvPr>
        </p:nvGraphicFramePr>
        <p:xfrm>
          <a:off x="9221188" y="826547"/>
          <a:ext cx="2607296" cy="2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사용자 입력 데이터에 대한 고콜레스테롤 발생 위험도 시각화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위험도에 따라 위험 등급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just" latinLnBrk="1"/>
                      <a:r>
                        <a:rPr lang="ko-KR" altLang="en-US" sz="1200"/>
                        <a:t>스크롤을 내려서 다음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26780" y="3700134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23660EC-BF39-B732-51DC-0C653706EBCB}"/>
              </a:ext>
            </a:extLst>
          </p:cNvPr>
          <p:cNvSpPr>
            <a:spLocks noChangeAspect="1"/>
          </p:cNvSpPr>
          <p:nvPr/>
        </p:nvSpPr>
        <p:spPr>
          <a:xfrm>
            <a:off x="3826780" y="5259853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65443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도표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98737AC-8731-A304-4FF3-3824A063D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3606148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088285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UI-Output_2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786874"/>
              </p:ext>
            </p:extLst>
          </p:nvPr>
        </p:nvGraphicFramePr>
        <p:xfrm>
          <a:off x="9221188" y="826547"/>
          <a:ext cx="2607296" cy="2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입력받은 사용자 영양소 섭취량과 권장 섭취량 그래프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마우스를 올려 수치 비교</a:t>
                      </a:r>
                      <a:r>
                        <a:rPr lang="en-US" altLang="ko-KR" sz="1200"/>
                        <a:t>·</a:t>
                      </a:r>
                      <a:r>
                        <a:rPr lang="ko-KR" altLang="en-US" sz="1200"/>
                        <a:t>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just" latinLnBrk="1"/>
                      <a:r>
                        <a:rPr lang="ko-KR" altLang="en-US" sz="1200"/>
                        <a:t>스크롤을 내려서 다음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1233600" y="3249000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7CB8742-1CD9-D6BE-CB25-F1FC9B0F484E}"/>
              </a:ext>
            </a:extLst>
          </p:cNvPr>
          <p:cNvSpPr>
            <a:spLocks noChangeAspect="1"/>
          </p:cNvSpPr>
          <p:nvPr/>
        </p:nvSpPr>
        <p:spPr>
          <a:xfrm>
            <a:off x="3729150" y="3249000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19614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AB0E476-9762-F85F-66A4-1AB019C7B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42909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9636528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UI-Output_3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0405660"/>
              </p:ext>
            </p:extLst>
          </p:nvPr>
        </p:nvGraphicFramePr>
        <p:xfrm>
          <a:off x="9221188" y="826547"/>
          <a:ext cx="2607296" cy="15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섭취 영양별 위험도 비율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위험도에 따른 등급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427810" y="3002638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5A7938F5-4B55-388B-DCE1-EE52E3F66C75}"/>
              </a:ext>
            </a:extLst>
          </p:cNvPr>
          <p:cNvSpPr>
            <a:spLocks noChangeAspect="1"/>
          </p:cNvSpPr>
          <p:nvPr/>
        </p:nvSpPr>
        <p:spPr>
          <a:xfrm>
            <a:off x="7936818" y="3002638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24931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5747</TotalTime>
  <Words>370</Words>
  <Application>Microsoft Office PowerPoint</Application>
  <PresentationFormat>와이드스크린</PresentationFormat>
  <Paragraphs>104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 및 맞춤형 식습관 개선 가이드 모델</vt:lpstr>
      <vt:lpstr>기획의도 Background &amp; Purpose</vt:lpstr>
      <vt:lpstr>기획의도 Background &amp; Purpose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98</cp:revision>
  <dcterms:created xsi:type="dcterms:W3CDTF">2026-03-13T06:49:36Z</dcterms:created>
  <dcterms:modified xsi:type="dcterms:W3CDTF">2026-03-27T02:19:53Z</dcterms:modified>
</cp:coreProperties>
</file>