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61" r:id="rId3"/>
    <p:sldId id="277" r:id="rId4"/>
    <p:sldId id="270" r:id="rId5"/>
    <p:sldId id="259" r:id="rId6"/>
    <p:sldId id="281" r:id="rId7"/>
    <p:sldId id="282" r:id="rId8"/>
    <p:sldId id="283" r:id="rId9"/>
    <p:sldId id="28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" id="{07626288-CB30-4427-ADE0-ADF0697BF9D9}">
          <p14:sldIdLst>
            <p14:sldId id="256"/>
          </p14:sldIdLst>
        </p14:section>
        <p14:section name="기획의도" id="{5776D462-103A-4A94-B329-79D7A809B440}">
          <p14:sldIdLst>
            <p14:sldId id="261"/>
            <p14:sldId id="277"/>
          </p14:sldIdLst>
        </p14:section>
        <p14:section name="개발목표" id="{68215A09-B176-47FD-B779-768E16B11801}">
          <p14:sldIdLst>
            <p14:sldId id="270"/>
          </p14:sldIdLst>
        </p14:section>
        <p14:section name="개발 스케줄" id="{3B2639DA-94DE-47E4-BC35-687CBCEDE099}">
          <p14:sldIdLst>
            <p14:sldId id="259"/>
          </p14:sldIdLst>
        </p14:section>
        <p14:section name="화면설계서" id="{E4806D9E-3AD0-4089-A3C6-C15EABD6A583}">
          <p14:sldIdLst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143AD7-E749-5E1E-371D-A585C0C727CD}" name="User" initials="Own" userId="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A2857-52EE-4322-B040-F7AE6E3FFBF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3F50E-80B0-4F85-9BA7-8539A8FB3F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232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72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4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013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47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49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92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061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73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4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F700-8BFB-4C30-A2B6-F509E51DF77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93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FF700-8BFB-4C30-A2B6-F509E51DF77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A73EE-7A8F-4405-9A1B-C766D678D7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097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1441BF8-BC31-A14F-06C9-DCC0D1B6E63B}"/>
              </a:ext>
            </a:extLst>
          </p:cNvPr>
          <p:cNvSpPr>
            <a:spLocks/>
          </p:cNvSpPr>
          <p:nvPr/>
        </p:nvSpPr>
        <p:spPr>
          <a:xfrm>
            <a:off x="3048000" y="-11750"/>
            <a:ext cx="6096000" cy="686975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F91D04-0044-5B44-D76A-127E2B5A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4039" y="1145969"/>
            <a:ext cx="4943918" cy="1689555"/>
          </a:xfrm>
        </p:spPr>
        <p:txBody>
          <a:bodyPr>
            <a:no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sz="2400" b="1" i="0" dirty="0">
                <a:solidFill>
                  <a:schemeClr val="bg1"/>
                </a:solidFill>
                <a:effectLst/>
                <a:latin typeface="Noto Sans KR"/>
              </a:rPr>
              <a:t>영양소 섭취 기반 </a:t>
            </a:r>
            <a:r>
              <a:rPr lang="ko-KR" altLang="en-US" sz="2400" b="1" i="0" dirty="0" err="1">
                <a:solidFill>
                  <a:schemeClr val="bg1"/>
                </a:solidFill>
                <a:effectLst/>
                <a:latin typeface="Noto Sans KR"/>
              </a:rPr>
              <a:t>고콜레스테롤혈증</a:t>
            </a:r>
            <a:r>
              <a:rPr lang="ko-KR" altLang="en-US" sz="2400" b="1" i="0" dirty="0">
                <a:solidFill>
                  <a:schemeClr val="bg1"/>
                </a:solidFill>
                <a:effectLst/>
                <a:latin typeface="Noto Sans KR"/>
              </a:rPr>
              <a:t> 위험도 예측 및</a:t>
            </a:r>
            <a:br>
              <a:rPr lang="ko-KR" altLang="en-US" sz="2400" b="1" i="0" dirty="0">
                <a:solidFill>
                  <a:schemeClr val="bg1"/>
                </a:solidFill>
                <a:effectLst/>
                <a:latin typeface="Noto Sans KR"/>
              </a:rPr>
            </a:br>
            <a:r>
              <a:rPr lang="ko-KR" altLang="en-US" sz="2400" b="1" i="0" dirty="0">
                <a:solidFill>
                  <a:schemeClr val="bg1"/>
                </a:solidFill>
                <a:effectLst/>
                <a:latin typeface="Noto Sans KR"/>
              </a:rPr>
              <a:t>맞춤형 식습관 개선 가이드 모델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CA0800-7F4B-02AB-743F-7001CA25E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0514" y="5492792"/>
            <a:ext cx="1050968" cy="1365208"/>
          </a:xfrm>
        </p:spPr>
        <p:txBody>
          <a:bodyPr>
            <a:normAutofit/>
          </a:bodyPr>
          <a:lstStyle/>
          <a:p>
            <a:r>
              <a:rPr lang="en-US" altLang="ko-KR" sz="1200">
                <a:solidFill>
                  <a:schemeClr val="bg1">
                    <a:lumMod val="85000"/>
                  </a:schemeClr>
                </a:solidFill>
              </a:rPr>
              <a:t>Presenter</a:t>
            </a:r>
          </a:p>
          <a:p>
            <a:r>
              <a:rPr lang="ko-KR" altLang="en-US" sz="1600" b="1">
                <a:solidFill>
                  <a:schemeClr val="bg1"/>
                </a:solidFill>
              </a:rPr>
              <a:t>이 승 찬</a:t>
            </a:r>
            <a:endParaRPr lang="en-US" altLang="ko-KR" sz="1600" b="1">
              <a:solidFill>
                <a:schemeClr val="bg1"/>
              </a:solidFill>
            </a:endParaRPr>
          </a:p>
          <a:p>
            <a:endParaRPr lang="en-US" altLang="ko-KR" sz="1200" b="1">
              <a:solidFill>
                <a:schemeClr val="bg1"/>
              </a:solidFill>
            </a:endParaRPr>
          </a:p>
          <a:p>
            <a:r>
              <a:rPr lang="en-US" altLang="ko-KR" sz="1200" b="1">
                <a:solidFill>
                  <a:schemeClr val="bg1">
                    <a:lumMod val="85000"/>
                  </a:schemeClr>
                </a:solidFill>
              </a:rPr>
              <a:t>2026.03.17</a:t>
            </a:r>
            <a:endParaRPr lang="ko-KR" altLang="en-US" sz="1200" b="1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86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C862FC6-D248-4F10-F70D-E5710D1B325A}"/>
              </a:ext>
            </a:extLst>
          </p:cNvPr>
          <p:cNvSpPr/>
          <p:nvPr/>
        </p:nvSpPr>
        <p:spPr>
          <a:xfrm>
            <a:off x="583240" y="1864518"/>
            <a:ext cx="4007641" cy="4414838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0445D-6120-B7A6-8C93-5DFA85968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267" y="2631000"/>
            <a:ext cx="3389582" cy="798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외식 및 가공식품 섭취 빈도 증가</a:t>
            </a:r>
            <a:r>
              <a:rPr lang="ko-KR" altLang="en-US" sz="14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/>
              </a:rPr>
              <a:t> </a:t>
            </a:r>
            <a:endParaRPr lang="en-US" altLang="ko-KR" sz="1400" b="0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b="1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KR"/>
              </a:rPr>
              <a:t>지방</a:t>
            </a:r>
            <a:r>
              <a:rPr lang="en-US" altLang="ko-KR" sz="1600" b="1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KR"/>
              </a:rPr>
              <a:t>, </a:t>
            </a:r>
            <a:r>
              <a:rPr lang="ko-KR" altLang="en-US" sz="1600" b="1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KR"/>
              </a:rPr>
              <a:t>나트륨</a:t>
            </a:r>
            <a:r>
              <a:rPr lang="en-US" altLang="ko-KR" sz="1600" b="1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KR"/>
              </a:rPr>
              <a:t>, </a:t>
            </a:r>
            <a:r>
              <a:rPr lang="ko-KR" altLang="en-US" sz="1600" b="1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Noto Sans KR"/>
              </a:rPr>
              <a:t>당류 과잉섭취 일상화</a:t>
            </a:r>
            <a:endParaRPr lang="ko-KR" alt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F9FC355-108D-229C-8C47-754079D811C4}"/>
              </a:ext>
            </a:extLst>
          </p:cNvPr>
          <p:cNvSpPr txBox="1">
            <a:spLocks/>
          </p:cNvSpPr>
          <p:nvPr/>
        </p:nvSpPr>
        <p:spPr>
          <a:xfrm>
            <a:off x="687460" y="4670106"/>
            <a:ext cx="3850221" cy="79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</a:rPr>
              <a:t>잘못된 식습관으로 인한</a:t>
            </a:r>
            <a:endParaRPr lang="en-US" altLang="ko-KR" sz="1400">
              <a:solidFill>
                <a:schemeClr val="tx1">
                  <a:lumMod val="65000"/>
                  <a:lumOff val="35000"/>
                </a:schemeClr>
              </a:solidFill>
              <a:latin typeface="Noto Sans KR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Noto Sans KR"/>
              </a:rPr>
              <a:t>고콜레스테롤혈증 만성질환 유병률 증가</a:t>
            </a:r>
            <a:endParaRPr lang="ko-KR" alt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D01A12-581E-B7EB-1FA7-940AA8F5F3A2}"/>
              </a:ext>
            </a:extLst>
          </p:cNvPr>
          <p:cNvSpPr/>
          <p:nvPr/>
        </p:nvSpPr>
        <p:spPr>
          <a:xfrm>
            <a:off x="0" y="0"/>
            <a:ext cx="12192000" cy="1180396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85BA4F-DA62-4ACF-71F5-86330591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3" y="234292"/>
            <a:ext cx="2009318" cy="946104"/>
          </a:xfrm>
        </p:spPr>
        <p:txBody>
          <a:bodyPr>
            <a:norm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기획의도</a:t>
            </a:r>
            <a:br>
              <a:rPr lang="en-US" altLang="ko-KR" sz="3200" b="1"/>
            </a:br>
            <a:r>
              <a:rPr lang="en-US" altLang="ko-KR" sz="1400" b="0" i="0">
                <a:solidFill>
                  <a:schemeClr val="bg1">
                    <a:lumMod val="75000"/>
                  </a:schemeClr>
                </a:solidFill>
                <a:effectLst/>
                <a:latin typeface="Noto Sans KR"/>
              </a:rPr>
              <a:t>Background &amp; Purpose</a:t>
            </a:r>
            <a:endParaRPr lang="ko-KR" altLang="en-US" sz="1400" b="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9CA5E893-BE61-1B2C-5561-000A6EBB9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389058" y="3873937"/>
            <a:ext cx="396000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ED8B41D-99E1-876D-2BFC-742037A8D708}"/>
              </a:ext>
            </a:extLst>
          </p:cNvPr>
          <p:cNvCxnSpPr>
            <a:cxnSpLocks/>
          </p:cNvCxnSpPr>
          <p:nvPr/>
        </p:nvCxnSpPr>
        <p:spPr>
          <a:xfrm>
            <a:off x="5224723" y="1915525"/>
            <a:ext cx="0" cy="427358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그림 6" descr="텍스트, 폰트, 스크린샷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5911AD8-7656-D881-A124-7493626DD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884" y="5468106"/>
            <a:ext cx="5968686" cy="1193737"/>
          </a:xfrm>
          <a:prstGeom prst="rect">
            <a:avLst/>
          </a:prstGeom>
        </p:spPr>
      </p:pic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91396A-9BEA-DDB6-E92C-B999E1AB0E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884" y="3690022"/>
            <a:ext cx="5974567" cy="1752540"/>
          </a:xfrm>
          <a:prstGeom prst="rect">
            <a:avLst/>
          </a:prstGeom>
        </p:spPr>
      </p:pic>
      <p:pic>
        <p:nvPicPr>
          <p:cNvPr id="11" name="그림 10" descr="텍스트, 스크린샷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4A37FBE-1B79-0C8E-CCFC-8E9EDC22DC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884" y="2576966"/>
            <a:ext cx="5974566" cy="1193737"/>
          </a:xfrm>
          <a:prstGeom prst="rect">
            <a:avLst/>
          </a:prstGeom>
        </p:spPr>
      </p:pic>
      <p:pic>
        <p:nvPicPr>
          <p:cNvPr id="19" name="그림 18" descr="텍스트, 폰트, 스크린샷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07E56B8-2817-C9FE-115E-B032A85950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885" y="1492335"/>
            <a:ext cx="5974565" cy="108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85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E100E88-53CB-58F7-589A-85345C67DA7C}"/>
              </a:ext>
            </a:extLst>
          </p:cNvPr>
          <p:cNvSpPr/>
          <p:nvPr/>
        </p:nvSpPr>
        <p:spPr>
          <a:xfrm>
            <a:off x="583240" y="1864518"/>
            <a:ext cx="4007641" cy="4414838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0445D-6120-B7A6-8C93-5DFA85968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269" y="2628647"/>
            <a:ext cx="3389582" cy="798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이상지질혈증 검사주기 </a:t>
            </a:r>
            <a:r>
              <a:rPr lang="en-US" altLang="ko-KR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4</a:t>
            </a:r>
            <a:r>
              <a:rPr lang="ko-KR" altLang="en-US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년</a:t>
            </a:r>
            <a:r>
              <a:rPr lang="en-US" altLang="ko-KR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(2018</a:t>
            </a:r>
            <a:r>
              <a:rPr lang="ko-KR" altLang="en-US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년 조정</a:t>
            </a:r>
            <a:r>
              <a:rPr lang="en-US" altLang="ko-KR" sz="14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KR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b="1">
                <a:solidFill>
                  <a:schemeClr val="tx1">
                    <a:lumMod val="85000"/>
                    <a:lumOff val="15000"/>
                  </a:schemeClr>
                </a:solidFill>
              </a:rPr>
              <a:t>검사주기가 길어 조기 대처 어려움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F9FC355-108D-229C-8C47-754079D811C4}"/>
              </a:ext>
            </a:extLst>
          </p:cNvPr>
          <p:cNvSpPr txBox="1">
            <a:spLocks/>
          </p:cNvSpPr>
          <p:nvPr/>
        </p:nvSpPr>
        <p:spPr>
          <a:xfrm>
            <a:off x="799240" y="4717227"/>
            <a:ext cx="3575640" cy="79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</a:rPr>
              <a:t>개인마다 다른 관리 특성</a:t>
            </a:r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</a:rPr>
              <a:t>(</a:t>
            </a:r>
            <a:r>
              <a: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</a:rPr>
              <a:t>성별</a:t>
            </a:r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</a:rPr>
              <a:t>, </a:t>
            </a:r>
            <a:r>
              <a:rPr lang="ko-KR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</a:rPr>
              <a:t>나이 등</a:t>
            </a:r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  <a:latin typeface="Noto Sans KR"/>
              </a:rPr>
              <a:t>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Noto Sans KR"/>
              </a:rPr>
              <a:t>개인별 맞춤 관리 가이드 필요</a:t>
            </a:r>
            <a:endParaRPr lang="en-US" altLang="ko-KR" sz="1600" b="1">
              <a:solidFill>
                <a:schemeClr val="tx1">
                  <a:lumMod val="85000"/>
                  <a:lumOff val="15000"/>
                </a:schemeClr>
              </a:solidFill>
              <a:latin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D01A12-581E-B7EB-1FA7-940AA8F5F3A2}"/>
              </a:ext>
            </a:extLst>
          </p:cNvPr>
          <p:cNvSpPr/>
          <p:nvPr/>
        </p:nvSpPr>
        <p:spPr>
          <a:xfrm>
            <a:off x="0" y="0"/>
            <a:ext cx="12192000" cy="1180396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85BA4F-DA62-4ACF-71F5-86330591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3" y="234292"/>
            <a:ext cx="2009318" cy="946104"/>
          </a:xfrm>
        </p:spPr>
        <p:txBody>
          <a:bodyPr>
            <a:norm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기획의도</a:t>
            </a:r>
            <a:br>
              <a:rPr lang="en-US" altLang="ko-KR" sz="3200" b="1"/>
            </a:br>
            <a:r>
              <a:rPr lang="en-US" altLang="ko-KR" sz="1400" b="0" i="0">
                <a:solidFill>
                  <a:schemeClr val="bg1">
                    <a:lumMod val="75000"/>
                  </a:schemeClr>
                </a:solidFill>
                <a:effectLst/>
                <a:latin typeface="Noto Sans KR"/>
              </a:rPr>
              <a:t>Background &amp; Purpose</a:t>
            </a:r>
            <a:endParaRPr lang="ko-KR" altLang="en-US" sz="1400" b="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0" name="그림 9" descr="텍스트, 폰트, 스크린샷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98F1AE-2535-C086-85FF-13648D650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010" y="4805543"/>
            <a:ext cx="5121554" cy="1392647"/>
          </a:xfrm>
          <a:prstGeom prst="rect">
            <a:avLst/>
          </a:prstGeom>
        </p:spPr>
      </p:pic>
      <p:pic>
        <p:nvPicPr>
          <p:cNvPr id="14" name="그림 13" descr="텍스트, 폰트, 스크린샷, 대수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E14F6A6-2746-F634-423E-B26B12187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010" y="3324310"/>
            <a:ext cx="5121553" cy="1481233"/>
          </a:xfrm>
          <a:prstGeom prst="rect">
            <a:avLst/>
          </a:prstGeom>
        </p:spPr>
      </p:pic>
      <p:pic>
        <p:nvPicPr>
          <p:cNvPr id="17" name="그림 16" descr="텍스트, 폰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026F65-1B13-3798-E2A4-D0BEE936F0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011" y="1915525"/>
            <a:ext cx="5121553" cy="140775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D60B9FC-7435-EF43-5B54-C230574E2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343547" y="3837937"/>
            <a:ext cx="487026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3A5A2F4-C1FC-C543-BAF6-59AAAC1AE9C8}"/>
              </a:ext>
            </a:extLst>
          </p:cNvPr>
          <p:cNvCxnSpPr>
            <a:cxnSpLocks/>
          </p:cNvCxnSpPr>
          <p:nvPr/>
        </p:nvCxnSpPr>
        <p:spPr>
          <a:xfrm>
            <a:off x="5224723" y="1915525"/>
            <a:ext cx="0" cy="427358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346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5F43BA5-0951-583E-766C-8FC261381A3D}"/>
              </a:ext>
            </a:extLst>
          </p:cNvPr>
          <p:cNvSpPr/>
          <p:nvPr/>
        </p:nvSpPr>
        <p:spPr>
          <a:xfrm>
            <a:off x="0" y="0"/>
            <a:ext cx="12192000" cy="1180396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C34BB3-C32B-9ADD-77C1-8351E456180D}"/>
              </a:ext>
            </a:extLst>
          </p:cNvPr>
          <p:cNvSpPr/>
          <p:nvPr/>
        </p:nvSpPr>
        <p:spPr>
          <a:xfrm>
            <a:off x="6436585" y="1815151"/>
            <a:ext cx="5441075" cy="44079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DA42CF-0839-AB13-9F4C-B1358EA1A49D}"/>
              </a:ext>
            </a:extLst>
          </p:cNvPr>
          <p:cNvSpPr/>
          <p:nvPr/>
        </p:nvSpPr>
        <p:spPr>
          <a:xfrm>
            <a:off x="314329" y="1815152"/>
            <a:ext cx="5441087" cy="4407899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6F9FC355-108D-229C-8C47-754079D811C4}"/>
              </a:ext>
            </a:extLst>
          </p:cNvPr>
          <p:cNvSpPr txBox="1">
            <a:spLocks/>
          </p:cNvSpPr>
          <p:nvPr/>
        </p:nvSpPr>
        <p:spPr>
          <a:xfrm>
            <a:off x="6609585" y="2242726"/>
            <a:ext cx="5095073" cy="464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800" b="1">
                <a:solidFill>
                  <a:schemeClr val="bg1"/>
                </a:solidFill>
                <a:latin typeface="Noto Sans KR"/>
              </a:rPr>
              <a:t>머신러닝 기반 콜레스테롤 위험도 예측 엔진 개발</a:t>
            </a:r>
            <a:endParaRPr lang="en-US" altLang="ko-KR" sz="1800" b="1">
              <a:solidFill>
                <a:schemeClr val="bg1"/>
              </a:solidFill>
              <a:latin typeface="Noto Sans K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372C32-8F73-FAB9-E521-1E48EB1C7047}"/>
              </a:ext>
            </a:extLst>
          </p:cNvPr>
          <p:cNvSpPr txBox="1"/>
          <p:nvPr/>
        </p:nvSpPr>
        <p:spPr>
          <a:xfrm>
            <a:off x="6609585" y="3144078"/>
            <a:ext cx="4920745" cy="174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통합 데이터 기반 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고콜레스테롤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발생 위험도 산출 지도학습 모델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 개발</a:t>
            </a:r>
            <a:endParaRPr lang="en-US" altLang="ko-KR" sz="1400">
              <a:solidFill>
                <a:schemeClr val="bg1">
                  <a:lumMod val="85000"/>
                </a:schemeClr>
              </a:solidFill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개별 요인 위험도 및 영향도 분석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, 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정량적 데이터에서 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고콜레스테롤 위험 요인과 수치 제공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408675D1-E235-486E-65AD-299E40A1A0DE}"/>
              </a:ext>
            </a:extLst>
          </p:cNvPr>
          <p:cNvSpPr txBox="1">
            <a:spLocks/>
          </p:cNvSpPr>
          <p:nvPr/>
        </p:nvSpPr>
        <p:spPr>
          <a:xfrm>
            <a:off x="603252" y="232090"/>
            <a:ext cx="2110259" cy="94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>
                <a:solidFill>
                  <a:schemeClr val="bg1"/>
                </a:solidFill>
              </a:rPr>
              <a:t>개발목표</a:t>
            </a:r>
            <a:br>
              <a:rPr lang="en-US" altLang="ko-KR" sz="3200" b="1"/>
            </a:br>
            <a:r>
              <a:rPr lang="en-US" altLang="ko-KR" sz="1400" b="0" i="0">
                <a:solidFill>
                  <a:schemeClr val="bg1">
                    <a:lumMod val="75000"/>
                  </a:schemeClr>
                </a:solidFill>
                <a:effectLst/>
                <a:latin typeface="Noto Sans KR"/>
              </a:rPr>
              <a:t>Development Objectives</a:t>
            </a:r>
            <a:endParaRPr lang="ko-KR" altLang="en-US" sz="1400" b="1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17963F5-4548-6EE0-0AF0-5D28ADF07127}"/>
              </a:ext>
            </a:extLst>
          </p:cNvPr>
          <p:cNvCxnSpPr>
            <a:cxnSpLocks/>
          </p:cNvCxnSpPr>
          <p:nvPr/>
        </p:nvCxnSpPr>
        <p:spPr>
          <a:xfrm>
            <a:off x="6096000" y="1908000"/>
            <a:ext cx="0" cy="4214194"/>
          </a:xfrm>
          <a:prstGeom prst="line">
            <a:avLst/>
          </a:prstGeom>
          <a:ln>
            <a:solidFill>
              <a:schemeClr val="dk1">
                <a:alpha val="8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E11CF9-6752-0478-C4EE-7AFF12AF853A}"/>
              </a:ext>
            </a:extLst>
          </p:cNvPr>
          <p:cNvSpPr txBox="1"/>
          <p:nvPr/>
        </p:nvSpPr>
        <p:spPr>
          <a:xfrm>
            <a:off x="603252" y="2998112"/>
            <a:ext cx="4972211" cy="2609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식품섭취조사 데이터 활용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, 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개인별 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1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일 영양소 섭취량 산출 체계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 수립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연령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/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성별 표준 섭취 비율 및 섭취 균형도를 수치화한 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영양 패턴 지표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생성</a:t>
            </a:r>
            <a:endParaRPr lang="en-US" altLang="ko-KR" sz="1400">
              <a:solidFill>
                <a:schemeClr val="bg1">
                  <a:lumMod val="85000"/>
                </a:schemeClr>
              </a:solidFill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사회경제적 요소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(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소득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·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교육 등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), 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생활습관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(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운동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·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흡연 등</a:t>
            </a:r>
            <a:r>
              <a:rPr lang="en-US" altLang="ko-KR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)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을 결합하여 분석 데이터의 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상관관계</a:t>
            </a:r>
            <a:r>
              <a:rPr lang="ko-KR" altLang="en-US" sz="1400" b="1">
                <a:solidFill>
                  <a:schemeClr val="bg1">
                    <a:lumMod val="85000"/>
                  </a:schemeClr>
                </a:solidFill>
                <a:latin typeface="+mn-ea"/>
              </a:rPr>
              <a:t> </a:t>
            </a:r>
            <a:r>
              <a:rPr lang="ko-KR" altLang="en-US" sz="1400">
                <a:solidFill>
                  <a:schemeClr val="bg1">
                    <a:lumMod val="85000"/>
                  </a:schemeClr>
                </a:solidFill>
                <a:latin typeface="+mn-ea"/>
              </a:rPr>
              <a:t>분석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79F87A-CFA9-9020-A18E-9860BACEC567}"/>
              </a:ext>
            </a:extLst>
          </p:cNvPr>
          <p:cNvSpPr txBox="1"/>
          <p:nvPr/>
        </p:nvSpPr>
        <p:spPr>
          <a:xfrm>
            <a:off x="773222" y="2242726"/>
            <a:ext cx="4523296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>
                <a:solidFill>
                  <a:schemeClr val="bg1"/>
                </a:solidFill>
                <a:latin typeface="Noto Sans KR"/>
              </a:rPr>
              <a:t>다차원 복합 요인 기반 정밀 데이터셋 구축</a:t>
            </a:r>
            <a:endParaRPr lang="ko-KR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00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FBB337-B530-64AE-493F-26C1184D6BC6}"/>
              </a:ext>
            </a:extLst>
          </p:cNvPr>
          <p:cNvSpPr/>
          <p:nvPr/>
        </p:nvSpPr>
        <p:spPr>
          <a:xfrm>
            <a:off x="0" y="0"/>
            <a:ext cx="12192000" cy="1180396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6B21E77-88D1-0F37-CAD7-BE7EC7FC1682}"/>
              </a:ext>
            </a:extLst>
          </p:cNvPr>
          <p:cNvSpPr txBox="1">
            <a:spLocks/>
          </p:cNvSpPr>
          <p:nvPr/>
        </p:nvSpPr>
        <p:spPr>
          <a:xfrm>
            <a:off x="603253" y="234000"/>
            <a:ext cx="2883105" cy="94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>
                <a:solidFill>
                  <a:schemeClr val="bg1"/>
                </a:solidFill>
              </a:rPr>
              <a:t>개발 스케줄</a:t>
            </a:r>
            <a:br>
              <a:rPr lang="en-US" altLang="ko-KR" sz="3200" b="1"/>
            </a:br>
            <a:r>
              <a:rPr lang="en-US" altLang="ko-KR" sz="1400" b="0" i="0">
                <a:solidFill>
                  <a:schemeClr val="bg1">
                    <a:lumMod val="75000"/>
                  </a:schemeClr>
                </a:solidFill>
                <a:effectLst/>
                <a:latin typeface="Noto Sans KR"/>
              </a:rPr>
              <a:t>Development Schedule</a:t>
            </a:r>
            <a:endParaRPr lang="ko-KR" altLang="en-US" sz="1400" b="1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D579A6-50E3-3440-BFBB-E4446852B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07" y="2210598"/>
            <a:ext cx="11384186" cy="344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03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D5E5EEB-C914-F0C1-6A7C-72E37E4E7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16" y="1980000"/>
            <a:ext cx="8640000" cy="4296417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15865"/>
              </p:ext>
            </p:extLst>
          </p:nvPr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UI-Input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2026.03.27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Input_data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271241"/>
              </p:ext>
            </p:extLst>
          </p:nvPr>
        </p:nvGraphicFramePr>
        <p:xfrm>
          <a:off x="9221188" y="826547"/>
          <a:ext cx="2607296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최근 </a:t>
                      </a:r>
                      <a:r>
                        <a:rPr lang="en-US" altLang="ko-KR" sz="1200"/>
                        <a:t>24</a:t>
                      </a:r>
                      <a:r>
                        <a:rPr lang="ko-KR" altLang="en-US" sz="1200"/>
                        <a:t>시간 섭취한 음식 영양소 수치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현재 사용 대상의 소득 수준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교육 수준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운동과 흡연 여부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60423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4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입력한 정보에 대한 분석 결과 페이지로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969263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Check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643079"/>
                  </a:ext>
                </a:extLst>
              </a:tr>
              <a:tr h="612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‘</a:t>
                      </a:r>
                      <a:r>
                        <a:rPr lang="ko-KR" altLang="en-US" sz="1200"/>
                        <a:t>분석 결과 확인하기</a:t>
                      </a:r>
                      <a:r>
                        <a:rPr lang="en-US" altLang="ko-KR" sz="1200"/>
                        <a:t>’</a:t>
                      </a:r>
                      <a:r>
                        <a:rPr lang="ko-KR" altLang="en-US" sz="1200"/>
                        <a:t>를 눌러 입력 데이터에 대한 결과 페이지로 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486421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380895" y="2748597"/>
            <a:ext cx="360000" cy="360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6530CCA-5A69-2CF3-5C54-34468856DFB6}"/>
              </a:ext>
            </a:extLst>
          </p:cNvPr>
          <p:cNvSpPr>
            <a:spLocks noChangeAspect="1"/>
          </p:cNvSpPr>
          <p:nvPr/>
        </p:nvSpPr>
        <p:spPr>
          <a:xfrm>
            <a:off x="3249774" y="2748597"/>
            <a:ext cx="360000" cy="360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194E283-4A82-FAAF-D7D6-6A6BB04817AF}"/>
              </a:ext>
            </a:extLst>
          </p:cNvPr>
          <p:cNvSpPr/>
          <p:nvPr/>
        </p:nvSpPr>
        <p:spPr>
          <a:xfrm>
            <a:off x="6096000" y="2748597"/>
            <a:ext cx="360000" cy="360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3</a:t>
            </a:r>
            <a:endParaRPr lang="ko-KR" altLang="en-US" sz="2000">
              <a:latin typeface="+mn-ea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D2E26A3-53FD-07AE-4CED-A337E917CD15}"/>
              </a:ext>
            </a:extLst>
          </p:cNvPr>
          <p:cNvSpPr>
            <a:spLocks noChangeAspect="1"/>
          </p:cNvSpPr>
          <p:nvPr/>
        </p:nvSpPr>
        <p:spPr>
          <a:xfrm>
            <a:off x="3626056" y="5472112"/>
            <a:ext cx="360000" cy="360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4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3467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폰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B42D041-C1E9-D3B8-368E-3B76ECA64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16" y="1980000"/>
            <a:ext cx="8640000" cy="440159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105803"/>
              </p:ext>
            </p:extLst>
          </p:nvPr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UI-Output_1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2026.03.27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Input_data – Output_data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821124"/>
              </p:ext>
            </p:extLst>
          </p:nvPr>
        </p:nvGraphicFramePr>
        <p:xfrm>
          <a:off x="9221188" y="826547"/>
          <a:ext cx="2607296" cy="2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사용자 입력 데이터에 대한 고콜레스테롤 발생 위험도 시각화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위험도에 따라 위험 등급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Check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604235"/>
                  </a:ext>
                </a:extLst>
              </a:tr>
              <a:tr h="612000"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ko-KR" altLang="en-US" sz="1200"/>
                        <a:t>스크롤을 내려서 다음 화면으로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969263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3826780" y="3700134"/>
            <a:ext cx="360000" cy="360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23660EC-BF39-B732-51DC-0C653706EBCB}"/>
              </a:ext>
            </a:extLst>
          </p:cNvPr>
          <p:cNvSpPr>
            <a:spLocks noChangeAspect="1"/>
          </p:cNvSpPr>
          <p:nvPr/>
        </p:nvSpPr>
        <p:spPr>
          <a:xfrm>
            <a:off x="3826780" y="5259853"/>
            <a:ext cx="360000" cy="360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6544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도표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98737AC-8731-A304-4FF3-3824A063D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16" y="1980000"/>
            <a:ext cx="8640000" cy="3606148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088285"/>
              </p:ext>
            </p:extLst>
          </p:nvPr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UI-Output_2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2026.03.27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Input_data – Output_data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786874"/>
              </p:ext>
            </p:extLst>
          </p:nvPr>
        </p:nvGraphicFramePr>
        <p:xfrm>
          <a:off x="9221188" y="826547"/>
          <a:ext cx="2607296" cy="2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입력받은 사용자 영양소 섭취량과 권장 섭취량 그래프 비교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마우스를 올려 수치 비교</a:t>
                      </a:r>
                      <a:r>
                        <a:rPr lang="en-US" altLang="ko-KR" sz="1200"/>
                        <a:t>·</a:t>
                      </a:r>
                      <a:r>
                        <a:rPr lang="ko-KR" altLang="en-US" sz="1200"/>
                        <a:t>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Check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604235"/>
                  </a:ext>
                </a:extLst>
              </a:tr>
              <a:tr h="612000"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ko-KR" altLang="en-US" sz="1200"/>
                        <a:t>스크롤을 내려서 다음 화면으로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969263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1233600" y="3249000"/>
            <a:ext cx="360000" cy="360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7CB8742-1CD9-D6BE-CB25-F1FC9B0F484E}"/>
              </a:ext>
            </a:extLst>
          </p:cNvPr>
          <p:cNvSpPr>
            <a:spLocks noChangeAspect="1"/>
          </p:cNvSpPr>
          <p:nvPr/>
        </p:nvSpPr>
        <p:spPr>
          <a:xfrm>
            <a:off x="3729150" y="3249000"/>
            <a:ext cx="360000" cy="360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9614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AB0E476-9762-F85F-66A4-1AB019C7B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16" y="1980000"/>
            <a:ext cx="8640000" cy="4429091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817D6E-D20C-C517-A1A7-CE0B0E88C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636528"/>
              </p:ext>
            </p:extLst>
          </p:nvPr>
        </p:nvGraphicFramePr>
        <p:xfrm>
          <a:off x="363516" y="826547"/>
          <a:ext cx="8640000" cy="715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50476112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7812260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55777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2984508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6652946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21724539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100275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28513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Page Title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UI-Output_3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Author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이승찬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2026.03.27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45574"/>
                  </a:ext>
                </a:extLst>
              </a:tr>
              <a:tr h="35565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Path</a:t>
                      </a:r>
                      <a:endParaRPr lang="ko-KR" altLang="en-US" sz="1200" b="1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Input_data – Output_data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310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015AE86-E78D-2EC5-F218-E0ACF707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405660"/>
              </p:ext>
            </p:extLst>
          </p:nvPr>
        </p:nvGraphicFramePr>
        <p:xfrm>
          <a:off x="9221188" y="826547"/>
          <a:ext cx="2607296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8">
                  <a:extLst>
                    <a:ext uri="{9D8B030D-6E8A-4147-A177-3AD203B41FA5}">
                      <a16:colId xmlns:a16="http://schemas.microsoft.com/office/drawing/2014/main" val="3477001054"/>
                    </a:ext>
                  </a:extLst>
                </a:gridCol>
                <a:gridCol w="2282678">
                  <a:extLst>
                    <a:ext uri="{9D8B030D-6E8A-4147-A177-3AD203B41FA5}">
                      <a16:colId xmlns:a16="http://schemas.microsoft.com/office/drawing/2014/main" val="2165713866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26235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섭취 영양별 위험도 비율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443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/>
                        <a:t>위험도에 따른 등급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56255"/>
                  </a:ext>
                </a:extLst>
              </a:tr>
            </a:tbl>
          </a:graphicData>
        </a:graphic>
      </p:graphicFrame>
      <p:sp>
        <p:nvSpPr>
          <p:cNvPr id="2" name="타원 1">
            <a:extLst>
              <a:ext uri="{FF2B5EF4-FFF2-40B4-BE49-F238E27FC236}">
                <a16:creationId xmlns:a16="http://schemas.microsoft.com/office/drawing/2014/main" id="{CFA4621C-5EB8-811B-072B-A85ED9144CF2}"/>
              </a:ext>
            </a:extLst>
          </p:cNvPr>
          <p:cNvSpPr>
            <a:spLocks noChangeAspect="1"/>
          </p:cNvSpPr>
          <p:nvPr/>
        </p:nvSpPr>
        <p:spPr>
          <a:xfrm>
            <a:off x="427810" y="3002638"/>
            <a:ext cx="360000" cy="360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1</a:t>
            </a:r>
            <a:endParaRPr lang="ko-KR" altLang="en-US" sz="2000">
              <a:latin typeface="+mn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A7938F5-4B55-388B-DCE1-EE52E3F66C75}"/>
              </a:ext>
            </a:extLst>
          </p:cNvPr>
          <p:cNvSpPr>
            <a:spLocks noChangeAspect="1"/>
          </p:cNvSpPr>
          <p:nvPr/>
        </p:nvSpPr>
        <p:spPr>
          <a:xfrm>
            <a:off x="7936818" y="3002638"/>
            <a:ext cx="360000" cy="360000"/>
          </a:xfrm>
          <a:prstGeom prst="ellipse">
            <a:avLst/>
          </a:prstGeom>
          <a:solidFill>
            <a:srgbClr val="C0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+mn-ea"/>
              </a:rPr>
              <a:t>2</a:t>
            </a:r>
            <a:endParaRPr lang="ko-KR" altLang="en-US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4931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5747</TotalTime>
  <Words>370</Words>
  <Application>Microsoft Office PowerPoint</Application>
  <PresentationFormat>와이드스크린</PresentationFormat>
  <Paragraphs>104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Noto Sans KR</vt:lpstr>
      <vt:lpstr>맑은 고딕</vt:lpstr>
      <vt:lpstr>Aptos</vt:lpstr>
      <vt:lpstr>Aptos Display</vt:lpstr>
      <vt:lpstr>Arial</vt:lpstr>
      <vt:lpstr>Office 테마</vt:lpstr>
      <vt:lpstr>영양소 섭취 기반 고콜레스테롤혈증 위험도 예측 및 맞춤형 식습관 개선 가이드 모델</vt:lpstr>
      <vt:lpstr>기획의도 Background &amp; Purpose</vt:lpstr>
      <vt:lpstr>기획의도 Background &amp; Purpose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100</cp:revision>
  <dcterms:created xsi:type="dcterms:W3CDTF">2026-03-13T06:49:36Z</dcterms:created>
  <dcterms:modified xsi:type="dcterms:W3CDTF">2026-03-27T04:26:03Z</dcterms:modified>
</cp:coreProperties>
</file>